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42"/>
  </p:notesMasterIdLst>
  <p:handoutMasterIdLst>
    <p:handoutMasterId r:id="rId43"/>
  </p:handoutMasterIdLst>
  <p:sldIdLst>
    <p:sldId id="293" r:id="rId8"/>
    <p:sldId id="299" r:id="rId9"/>
    <p:sldId id="279" r:id="rId10"/>
    <p:sldId id="300" r:id="rId11"/>
    <p:sldId id="301" r:id="rId12"/>
    <p:sldId id="302" r:id="rId13"/>
    <p:sldId id="307" r:id="rId14"/>
    <p:sldId id="308" r:id="rId15"/>
    <p:sldId id="313" r:id="rId16"/>
    <p:sldId id="317" r:id="rId17"/>
    <p:sldId id="318" r:id="rId18"/>
    <p:sldId id="319" r:id="rId19"/>
    <p:sldId id="320" r:id="rId20"/>
    <p:sldId id="314" r:id="rId21"/>
    <p:sldId id="315" r:id="rId22"/>
    <p:sldId id="321" r:id="rId23"/>
    <p:sldId id="322" r:id="rId24"/>
    <p:sldId id="316" r:id="rId25"/>
    <p:sldId id="309" r:id="rId26"/>
    <p:sldId id="310" r:id="rId27"/>
    <p:sldId id="323" r:id="rId28"/>
    <p:sldId id="324" r:id="rId29"/>
    <p:sldId id="311" r:id="rId30"/>
    <p:sldId id="312" r:id="rId31"/>
    <p:sldId id="303" r:id="rId32"/>
    <p:sldId id="304" r:id="rId33"/>
    <p:sldId id="306" r:id="rId34"/>
    <p:sldId id="326" r:id="rId35"/>
    <p:sldId id="329" r:id="rId36"/>
    <p:sldId id="327" r:id="rId37"/>
    <p:sldId id="328" r:id="rId38"/>
    <p:sldId id="330" r:id="rId39"/>
    <p:sldId id="325" r:id="rId40"/>
    <p:sldId id="297" r:id="rId4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349E3"/>
    <a:srgbClr val="1938FF"/>
    <a:srgbClr val="090095"/>
    <a:srgbClr val="1938B3"/>
    <a:srgbClr val="0A0096"/>
    <a:srgbClr val="0A3396"/>
    <a:srgbClr val="233881"/>
    <a:srgbClr val="002060"/>
    <a:srgbClr val="519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6005" autoAdjust="0"/>
  </p:normalViewPr>
  <p:slideViewPr>
    <p:cSldViewPr snapToGrid="0">
      <p:cViewPr>
        <p:scale>
          <a:sx n="100" d="100"/>
          <a:sy n="100" d="100"/>
        </p:scale>
        <p:origin x="1308" y="31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handoutMaster" Target="handoutMasters/handoutMaster1.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heme" Target="theme/theme1.xml"/><Relationship Id="rId20" Type="http://schemas.openxmlformats.org/officeDocument/2006/relationships/slide" Target="slides/slide13.xml"/><Relationship Id="rId41" Type="http://schemas.openxmlformats.org/officeDocument/2006/relationships/slide" Target="slides/slide3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16/03/2024</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16/03/2024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v1.2.0.0 – 06/02/2024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image" Target="../media/image16.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v1.2.0.0 – 06/02/2024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fournisseur d’accès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6015354"/>
            <a:ext cx="12042475" cy="57797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du fournisseur distant la dernière version généré du site de suivi.</a:t>
            </a:r>
          </a:p>
          <a:p>
            <a:endParaRPr lang="fr-FR" sz="1800" dirty="0"/>
          </a:p>
          <a:p>
            <a:endParaRPr lang="fr-FR" sz="1800" dirty="0"/>
          </a:p>
          <a:p>
            <a:pPr marL="101598" indent="0">
              <a:buNone/>
            </a:pPr>
            <a:r>
              <a:rPr lang="fr-FR" sz="1800" b="1" i="1" dirty="0"/>
              <a:t>Note</a:t>
            </a:r>
            <a:r>
              <a:rPr lang="fr-FR" sz="1800" i="1" dirty="0"/>
              <a:t>: En cas de publication distante, l’accès des utilisateurs se fait via l’adresse distante du fournisseur internet.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28488655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du fournisseur distant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a:t>
            </a:r>
          </a:p>
          <a:p>
            <a:endParaRPr lang="fr-FR" sz="1800" dirty="0"/>
          </a:p>
          <a:p>
            <a:pPr marL="101598" indent="0">
              <a:buNone/>
            </a:pPr>
            <a:r>
              <a:rPr lang="fr-FR" sz="1800" b="1" i="1" dirty="0"/>
              <a:t>Note</a:t>
            </a:r>
            <a:r>
              <a:rPr lang="fr-FR" sz="1800" i="1" dirty="0"/>
              <a:t>: En cas de publication distante, l’accès des utilisateurs se fait via l’adresse distante du fournisseur internet.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4001706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a:blip r:embed="rId2"/>
          <a:stretch>
            <a:fillRect/>
          </a:stretch>
        </p:blipFill>
        <p:spPr>
          <a:xfrm>
            <a:off x="3618919" y="1536773"/>
            <a:ext cx="8040262" cy="4767566"/>
          </a:xfrm>
          <a:prstGeom prst="rect">
            <a:avLst/>
          </a:prstGeom>
        </p:spPr>
      </p:pic>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91817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656264"/>
            <a:ext cx="3958699" cy="357066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656264"/>
            <a:ext cx="3958699" cy="357066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Tree>
    <p:extLst>
      <p:ext uri="{BB962C8B-B14F-4D97-AF65-F5344CB8AC3E}">
        <p14:creationId xmlns:p14="http://schemas.microsoft.com/office/powerpoint/2010/main" val="2673592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t="3833" b="76064"/>
          <a:stretch/>
        </p:blipFill>
        <p:spPr>
          <a:xfrm>
            <a:off x="706029" y="3257550"/>
            <a:ext cx="10779941" cy="1284974"/>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a:off x="9182643" y="2035155"/>
            <a:ext cx="2651125"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Tree>
    <p:extLst>
      <p:ext uri="{BB962C8B-B14F-4D97-AF65-F5344CB8AC3E}">
        <p14:creationId xmlns:p14="http://schemas.microsoft.com/office/powerpoint/2010/main" val="10767670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l="765" t="24306" r="50118" b="2133"/>
          <a:stretch/>
        </p:blipFill>
        <p:spPr>
          <a:xfrm>
            <a:off x="4236719" y="2014758"/>
            <a:ext cx="3949065" cy="3507105"/>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581032" y="5223107"/>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333507" y="5225489"/>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0" y="2776023"/>
            <a:ext cx="2693811"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2076450" y="5936580"/>
            <a:ext cx="2981324" cy="436361"/>
          </a:xfrm>
          <a:prstGeom prst="accentBorderCallout1">
            <a:avLst>
              <a:gd name="adj1" fmla="val 18750"/>
              <a:gd name="adj2" fmla="val -8333"/>
              <a:gd name="adj3" fmla="val -108235"/>
              <a:gd name="adj4" fmla="val -3355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549502" y="5936579"/>
            <a:ext cx="3093099" cy="436362"/>
          </a:xfrm>
          <a:prstGeom prst="accentBorderCallout1">
            <a:avLst>
              <a:gd name="adj1" fmla="val 18750"/>
              <a:gd name="adj2" fmla="val -8333"/>
              <a:gd name="adj3" fmla="val -102559"/>
              <a:gd name="adj4" fmla="val -346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543784"/>
            <a:ext cx="2042286" cy="528400"/>
          </a:xfrm>
          <a:prstGeom prst="accentBorderCallout1">
            <a:avLst>
              <a:gd name="adj1" fmla="val 18750"/>
              <a:gd name="adj2" fmla="val -8333"/>
              <a:gd name="adj3" fmla="val 66748"/>
              <a:gd name="adj4" fmla="val -2072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Tree>
    <p:extLst>
      <p:ext uri="{BB962C8B-B14F-4D97-AF65-F5344CB8AC3E}">
        <p14:creationId xmlns:p14="http://schemas.microsoft.com/office/powerpoint/2010/main" val="2124347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distante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l="50846" t="24719" r="878" b="2281"/>
          <a:stretch/>
        </p:blipFill>
        <p:spPr>
          <a:xfrm>
            <a:off x="3995154" y="1719483"/>
            <a:ext cx="3881536" cy="3480319"/>
          </a:xfrm>
          <a:prstGeom prst="rect">
            <a:avLst/>
          </a:prstGeom>
        </p:spPr>
      </p:pic>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295515" y="2741552"/>
            <a:ext cx="3553585" cy="318133"/>
          </a:xfrm>
          <a:prstGeom prst="accentBorderCallout1">
            <a:avLst>
              <a:gd name="adj1" fmla="val 18750"/>
              <a:gd name="adj2" fmla="val -8333"/>
              <a:gd name="adj3" fmla="val 131228"/>
              <a:gd name="adj4" fmla="val -1882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95154" y="3070133"/>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30815" y="3642455"/>
            <a:ext cx="248919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7013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076" y="307013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93670" y="221320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67483"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81488" y="2252466"/>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00020" y="2455348"/>
            <a:ext cx="2693811"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295515" y="2301362"/>
            <a:ext cx="2667954" cy="310492"/>
          </a:xfrm>
          <a:prstGeom prst="accentBorderCallout1">
            <a:avLst>
              <a:gd name="adj1" fmla="val 18750"/>
              <a:gd name="adj2" fmla="val -8333"/>
              <a:gd name="adj3" fmla="val 81773"/>
              <a:gd name="adj4" fmla="val -1792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98833" y="4919681"/>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38094" y="4919681"/>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717381" y="4919680"/>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8" y="6012222"/>
            <a:ext cx="3816602"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30814" y="3901447"/>
            <a:ext cx="248919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3739" y="4161661"/>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17132" y="4687733"/>
            <a:ext cx="1610449"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30814" y="4423133"/>
            <a:ext cx="159676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6866803" y="4160439"/>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863438" y="4423132"/>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863438" y="4678423"/>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267485" y="5441969"/>
            <a:ext cx="3716125"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98202" y="4003644"/>
            <a:ext cx="3141431" cy="293700"/>
          </a:xfrm>
          <a:prstGeom prst="accentBorderCallout1">
            <a:avLst>
              <a:gd name="adj1" fmla="val 18750"/>
              <a:gd name="adj2" fmla="val -8333"/>
              <a:gd name="adj3" fmla="val 84104"/>
              <a:gd name="adj4" fmla="val -5966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98202" y="4441425"/>
            <a:ext cx="3141431" cy="286471"/>
          </a:xfrm>
          <a:prstGeom prst="accentBorderCallout1">
            <a:avLst>
              <a:gd name="adj1" fmla="val 18750"/>
              <a:gd name="adj2" fmla="val -8333"/>
              <a:gd name="adj3" fmla="val 25057"/>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267484" y="4972190"/>
            <a:ext cx="3716125" cy="343173"/>
          </a:xfrm>
          <a:prstGeom prst="accentBorderCallout1">
            <a:avLst>
              <a:gd name="adj1" fmla="val 18750"/>
              <a:gd name="adj2" fmla="val -8333"/>
              <a:gd name="adj3" fmla="val -132927"/>
              <a:gd name="adj4" fmla="val -1396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a:off x="8267483" y="4452174"/>
            <a:ext cx="3716125" cy="343173"/>
          </a:xfrm>
          <a:prstGeom prst="accentBorderCallout1">
            <a:avLst>
              <a:gd name="adj1" fmla="val 18750"/>
              <a:gd name="adj2" fmla="val -8333"/>
              <a:gd name="adj3" fmla="val -57986"/>
              <a:gd name="adj4" fmla="val -13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299259" y="3190823"/>
            <a:ext cx="3550562" cy="436361"/>
          </a:xfrm>
          <a:prstGeom prst="accentBorderCallout1">
            <a:avLst>
              <a:gd name="adj1" fmla="val 18750"/>
              <a:gd name="adj2" fmla="val -8333"/>
              <a:gd name="adj3" fmla="val 123726"/>
              <a:gd name="adj4" fmla="val -1547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302427" y="3731842"/>
            <a:ext cx="3550562" cy="436361"/>
          </a:xfrm>
          <a:prstGeom prst="accentBorderCallout1">
            <a:avLst>
              <a:gd name="adj1" fmla="val 18750"/>
              <a:gd name="adj2" fmla="val -8333"/>
              <a:gd name="adj3" fmla="val 57514"/>
              <a:gd name="adj4" fmla="val -162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98202" y="4871977"/>
            <a:ext cx="3141431" cy="286471"/>
          </a:xfrm>
          <a:prstGeom prst="accentBorderCallout1">
            <a:avLst>
              <a:gd name="adj1" fmla="val 18750"/>
              <a:gd name="adj2" fmla="val -8333"/>
              <a:gd name="adj3" fmla="val -41442"/>
              <a:gd name="adj4" fmla="val -5926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Tree>
    <p:extLst>
      <p:ext uri="{BB962C8B-B14F-4D97-AF65-F5344CB8AC3E}">
        <p14:creationId xmlns:p14="http://schemas.microsoft.com/office/powerpoint/2010/main" val="2425240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a:blip r:embed="rId2"/>
          <a:stretch>
            <a:fillRect/>
          </a:stretch>
        </p:blipFill>
        <p:spPr>
          <a:xfrm>
            <a:off x="3574496" y="1982866"/>
            <a:ext cx="7772400" cy="3743325"/>
          </a:xfrm>
          <a:prstGeom prst="rect">
            <a:avLst/>
          </a:prstGeom>
        </p:spPr>
      </p:pic>
      <p:sp>
        <p:nvSpPr>
          <p:cNvPr id="9" name="Rectangle 8">
            <a:extLst>
              <a:ext uri="{FF2B5EF4-FFF2-40B4-BE49-F238E27FC236}">
                <a16:creationId xmlns:a16="http://schemas.microsoft.com/office/drawing/2014/main" id="{DF88C5BE-8A7D-7692-F037-2C25DA6FD90A}"/>
              </a:ext>
            </a:extLst>
          </p:cNvPr>
          <p:cNvSpPr/>
          <p:nvPr/>
        </p:nvSpPr>
        <p:spPr>
          <a:xfrm>
            <a:off x="3727005" y="2307014"/>
            <a:ext cx="3933055"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7744905" y="2307014"/>
            <a:ext cx="3470491"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9298272" y="3678517"/>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5372068" y="3592918"/>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n’est accessible que si la génération est arrêtée.</a:t>
            </a:r>
          </a:p>
        </p:txBody>
      </p:sp>
    </p:spTree>
    <p:extLst>
      <p:ext uri="{BB962C8B-B14F-4D97-AF65-F5344CB8AC3E}">
        <p14:creationId xmlns:p14="http://schemas.microsoft.com/office/powerpoint/2010/main" val="15334817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2049" t="9116" r="47338" b="13785"/>
          <a:stretch/>
        </p:blipFill>
        <p:spPr>
          <a:xfrm>
            <a:off x="4000500" y="2352675"/>
            <a:ext cx="3933825" cy="2886075"/>
          </a:xfrm>
          <a:prstGeom prst="rect">
            <a:avLst/>
          </a:prstGeom>
        </p:spPr>
      </p:pic>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2146346"/>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086224" y="288915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2352675"/>
            <a:ext cx="3439110" cy="775123"/>
          </a:xfrm>
          <a:prstGeom prst="accentBorderCallout1">
            <a:avLst>
              <a:gd name="adj1" fmla="val 18750"/>
              <a:gd name="adj2" fmla="val -8333"/>
              <a:gd name="adj3" fmla="val 108615"/>
              <a:gd name="adj4" fmla="val -22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24874" y="3584189"/>
            <a:ext cx="3439110" cy="775123"/>
          </a:xfrm>
          <a:prstGeom prst="accentBorderCallout1">
            <a:avLst>
              <a:gd name="adj1" fmla="val 18750"/>
              <a:gd name="adj2" fmla="val -8333"/>
              <a:gd name="adj3" fmla="val 43077"/>
              <a:gd name="adj4" fmla="val -2246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5009598"/>
            <a:ext cx="3439110" cy="985760"/>
          </a:xfrm>
          <a:prstGeom prst="accentBorderCallout1">
            <a:avLst>
              <a:gd name="adj1" fmla="val 18750"/>
              <a:gd name="adj2" fmla="val -8333"/>
              <a:gd name="adj3" fmla="val -18365"/>
              <a:gd name="adj4" fmla="val -2329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086224" y="420360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086223" y="4476612"/>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91049" y="3733801"/>
            <a:ext cx="3124201" cy="43184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921500" y="3174839"/>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921500" y="4774556"/>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476750" y="4761764"/>
            <a:ext cx="2165349"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7" y="3267311"/>
            <a:ext cx="3181935" cy="528401"/>
          </a:xfrm>
          <a:prstGeom prst="accentBorderCallout1">
            <a:avLst>
              <a:gd name="adj1" fmla="val 18750"/>
              <a:gd name="adj2" fmla="val -8333"/>
              <a:gd name="adj3" fmla="val 188391"/>
              <a:gd name="adj4" fmla="val -24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21407" y="4321129"/>
            <a:ext cx="3181935" cy="528401"/>
          </a:xfrm>
          <a:prstGeom prst="accentBorderCallout1">
            <a:avLst>
              <a:gd name="adj1" fmla="val 18750"/>
              <a:gd name="adj2" fmla="val -8333"/>
              <a:gd name="adj3" fmla="val 65950"/>
              <a:gd name="adj4" fmla="val -2430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91746" y="5397159"/>
            <a:ext cx="3181935" cy="775123"/>
          </a:xfrm>
          <a:prstGeom prst="accentBorderCallout1">
            <a:avLst>
              <a:gd name="adj1" fmla="val 18750"/>
              <a:gd name="adj2" fmla="val -8333"/>
              <a:gd name="adj3" fmla="val -49944"/>
              <a:gd name="adj4" fmla="val -3840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sélection de l’affichage des poules en colonnes selon la taille de la poule</a:t>
            </a:r>
          </a:p>
        </p:txBody>
      </p:sp>
    </p:spTree>
    <p:extLst>
      <p:ext uri="{BB962C8B-B14F-4D97-AF65-F5344CB8AC3E}">
        <p14:creationId xmlns:p14="http://schemas.microsoft.com/office/powerpoint/2010/main" val="37025131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53520" t="8353" r="1749" b="13785"/>
          <a:stretch/>
        </p:blipFill>
        <p:spPr>
          <a:xfrm>
            <a:off x="4086224" y="2328593"/>
            <a:ext cx="3476625" cy="2914650"/>
          </a:xfrm>
          <a:prstGeom prst="rect">
            <a:avLst/>
          </a:prstGeom>
        </p:spPr>
      </p:pic>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23702" y="3249449"/>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241501" y="4036471"/>
            <a:ext cx="1592082"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6096000" y="3621926"/>
            <a:ext cx="1132936" cy="6495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23117"/>
              <a:gd name="adj4" fmla="val -2947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03879" y="4668990"/>
            <a:ext cx="3257372"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23699" y="5040349"/>
            <a:ext cx="3181937" cy="283867"/>
          </a:xfrm>
          <a:prstGeom prst="accentBorderCallout1">
            <a:avLst>
              <a:gd name="adj1" fmla="val 18750"/>
              <a:gd name="adj2" fmla="val -8333"/>
              <a:gd name="adj3" fmla="val -74626"/>
              <a:gd name="adj4" fmla="val -215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243268"/>
              <a:gd name="adj4" fmla="val -4165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5911236" y="2950547"/>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66934"/>
              <a:gd name="adj4" fmla="val -419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5911236" y="3311479"/>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a:off x="8143436" y="4657093"/>
            <a:ext cx="2974144" cy="483119"/>
          </a:xfrm>
          <a:prstGeom prst="accentBorderCallout1">
            <a:avLst>
              <a:gd name="adj1" fmla="val 18750"/>
              <a:gd name="adj2" fmla="val -8333"/>
              <a:gd name="adj3" fmla="val -48523"/>
              <a:gd name="adj4" fmla="val -3493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6206511" y="4322312"/>
            <a:ext cx="899139" cy="28302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467429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fournisseur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42CE8BC-E5D1-6AA2-4D02-B1388BCB72CD}"/>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0FE57090-1ADB-C7CB-B36C-276B6DC83054}"/>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3C209CE0-F4C6-95C5-9C30-6B98F9D27901}"/>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0D82EDA3-EA5B-6CAE-2196-0EEB43253C21}"/>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11757461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du fournisseur distant la dernière version généré du site de suivi.</a:t>
            </a:r>
          </a:p>
          <a:p>
            <a:endParaRPr lang="fr-FR" sz="1800" dirty="0"/>
          </a:p>
          <a:p>
            <a:endParaRPr lang="fr-FR" sz="1800" dirty="0"/>
          </a:p>
          <a:p>
            <a:pPr marL="101598" indent="0">
              <a:buNone/>
            </a:pPr>
            <a:r>
              <a:rPr lang="fr-FR" sz="1800" b="1" i="1" dirty="0"/>
              <a:t>Note</a:t>
            </a:r>
            <a:r>
              <a:rPr lang="fr-FR" sz="1800" i="1" dirty="0"/>
              <a:t>: En cas de publication distante, l’accès des utilisateurs se fait via l’adresse distante du fournisseur internet.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spTree>
    <p:extLst>
      <p:ext uri="{BB962C8B-B14F-4D97-AF65-F5344CB8AC3E}">
        <p14:creationId xmlns:p14="http://schemas.microsoft.com/office/powerpoint/2010/main" val="24673633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380265226"/>
              </p:ext>
            </p:extLst>
          </p:nvPr>
        </p:nvGraphicFramePr>
        <p:xfrm>
          <a:off x="1697420" y="1912088"/>
          <a:ext cx="8477001" cy="3561782"/>
        </p:xfrm>
        <a:graphic>
          <a:graphicData uri="http://schemas.openxmlformats.org/drawingml/2006/table">
            <a:tbl>
              <a:tblPr>
                <a:tableStyleId>{7DF18680-E054-41AD-8BC1-D1AEF772440D}</a:tableStyleId>
              </a:tblPr>
              <a:tblGrid>
                <a:gridCol w="554503">
                  <a:extLst>
                    <a:ext uri="{9D8B030D-6E8A-4147-A177-3AD203B41FA5}">
                      <a16:colId xmlns:a16="http://schemas.microsoft.com/office/drawing/2014/main" val="3736857135"/>
                    </a:ext>
                  </a:extLst>
                </a:gridCol>
                <a:gridCol w="1265408">
                  <a:extLst>
                    <a:ext uri="{9D8B030D-6E8A-4147-A177-3AD203B41FA5}">
                      <a16:colId xmlns:a16="http://schemas.microsoft.com/office/drawing/2014/main" val="3696878891"/>
                    </a:ext>
                  </a:extLst>
                </a:gridCol>
                <a:gridCol w="870268">
                  <a:extLst>
                    <a:ext uri="{9D8B030D-6E8A-4147-A177-3AD203B41FA5}">
                      <a16:colId xmlns:a16="http://schemas.microsoft.com/office/drawing/2014/main" val="2257898591"/>
                    </a:ext>
                  </a:extLst>
                </a:gridCol>
                <a:gridCol w="870268">
                  <a:extLst>
                    <a:ext uri="{9D8B030D-6E8A-4147-A177-3AD203B41FA5}">
                      <a16:colId xmlns:a16="http://schemas.microsoft.com/office/drawing/2014/main" val="2384296798"/>
                    </a:ext>
                  </a:extLst>
                </a:gridCol>
                <a:gridCol w="870268">
                  <a:extLst>
                    <a:ext uri="{9D8B030D-6E8A-4147-A177-3AD203B41FA5}">
                      <a16:colId xmlns:a16="http://schemas.microsoft.com/office/drawing/2014/main" val="618733032"/>
                    </a:ext>
                  </a:extLst>
                </a:gridCol>
                <a:gridCol w="870268">
                  <a:extLst>
                    <a:ext uri="{9D8B030D-6E8A-4147-A177-3AD203B41FA5}">
                      <a16:colId xmlns:a16="http://schemas.microsoft.com/office/drawing/2014/main" val="3964921429"/>
                    </a:ext>
                  </a:extLst>
                </a:gridCol>
                <a:gridCol w="870268">
                  <a:extLst>
                    <a:ext uri="{9D8B030D-6E8A-4147-A177-3AD203B41FA5}">
                      <a16:colId xmlns:a16="http://schemas.microsoft.com/office/drawing/2014/main" val="2528599786"/>
                    </a:ext>
                  </a:extLst>
                </a:gridCol>
                <a:gridCol w="870268">
                  <a:extLst>
                    <a:ext uri="{9D8B030D-6E8A-4147-A177-3AD203B41FA5}">
                      <a16:colId xmlns:a16="http://schemas.microsoft.com/office/drawing/2014/main" val="2631112101"/>
                    </a:ext>
                  </a:extLst>
                </a:gridCol>
                <a:gridCol w="1435482">
                  <a:extLst>
                    <a:ext uri="{9D8B030D-6E8A-4147-A177-3AD203B41FA5}">
                      <a16:colId xmlns:a16="http://schemas.microsoft.com/office/drawing/2014/main" val="1640724778"/>
                    </a:ext>
                  </a:extLst>
                </a:gridCol>
              </a:tblGrid>
              <a:tr h="727366">
                <a:tc>
                  <a:txBody>
                    <a:bodyPr/>
                    <a:lstStyle/>
                    <a:p>
                      <a:endParaRPr lang="fr-FR" dirty="0"/>
                    </a:p>
                  </a:txBody>
                  <a:tcPr anchor="ctr"/>
                </a:tc>
                <a:tc>
                  <a:txBody>
                    <a:bodyPr/>
                    <a:lstStyle/>
                    <a:p>
                      <a:endParaRPr lang="fr-FR" dirty="0"/>
                    </a:p>
                  </a:txBody>
                  <a:tcPr anchor="ctr"/>
                </a:tc>
                <a:tc gridSpan="7">
                  <a:txBody>
                    <a:bodyPr/>
                    <a:lstStyle/>
                    <a:p>
                      <a:pPr algn="ctr"/>
                      <a:r>
                        <a:rPr lang="fr-FR" sz="1800" dirty="0" err="1">
                          <a:solidFill>
                            <a:schemeClr val="bg1"/>
                          </a:solidFill>
                        </a:rPr>
                        <a:t>PublicationSuiviCompetition</a:t>
                      </a:r>
                      <a:endParaRPr lang="fr-FR"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extLst>
                  <a:ext uri="{0D108BD9-81ED-4DB2-BD59-A6C34878D82A}">
                    <a16:rowId xmlns:a16="http://schemas.microsoft.com/office/drawing/2014/main" val="1913834373"/>
                  </a:ext>
                </a:extLst>
              </a:tr>
              <a:tr h="727366">
                <a:tc>
                  <a:txBody>
                    <a:bodyPr/>
                    <a:lstStyle/>
                    <a:p>
                      <a:endParaRPr lang="fr-FR" dirty="0"/>
                    </a:p>
                  </a:txBody>
                  <a:tcPr anchor="ctr"/>
                </a:tc>
                <a:tc>
                  <a:txBody>
                    <a:bodyPr/>
                    <a:lstStyle/>
                    <a:p>
                      <a:endParaRPr lang="fr-FR" dirty="0"/>
                    </a:p>
                  </a:txBody>
                  <a:tcPr anchor="ctr"/>
                </a:tc>
                <a:tc>
                  <a:txBody>
                    <a:bodyPr/>
                    <a:lstStyle/>
                    <a:p>
                      <a:r>
                        <a:rPr lang="fr-FR" dirty="0">
                          <a:solidFill>
                            <a:schemeClr val="bg1"/>
                          </a:solidFill>
                        </a:rPr>
                        <a:t>1.0.0.0</a:t>
                      </a:r>
                    </a:p>
                  </a:txBody>
                  <a:tcPr anchor="ctr">
                    <a:solidFill>
                      <a:schemeClr val="accent1"/>
                    </a:solidFill>
                  </a:tcPr>
                </a:tc>
                <a:tc>
                  <a:txBody>
                    <a:bodyPr/>
                    <a:lstStyle/>
                    <a:p>
                      <a:r>
                        <a:rPr lang="fr-FR" dirty="0">
                          <a:solidFill>
                            <a:schemeClr val="bg1"/>
                          </a:solidFill>
                        </a:rPr>
                        <a:t>1.1.0.0</a:t>
                      </a:r>
                    </a:p>
                  </a:txBody>
                  <a:tcPr anchor="ctr">
                    <a:solidFill>
                      <a:schemeClr val="accent1"/>
                    </a:solidFill>
                  </a:tcPr>
                </a:tc>
                <a:tc>
                  <a:txBody>
                    <a:bodyPr/>
                    <a:lstStyle/>
                    <a:p>
                      <a:r>
                        <a:rPr lang="fr-FR" dirty="0">
                          <a:solidFill>
                            <a:schemeClr val="bg1"/>
                          </a:solidFill>
                        </a:rPr>
                        <a:t>1.1.1.0</a:t>
                      </a:r>
                    </a:p>
                  </a:txBody>
                  <a:tcPr anchor="ctr">
                    <a:solidFill>
                      <a:schemeClr val="accent1"/>
                    </a:solidFill>
                  </a:tcPr>
                </a:tc>
                <a:tc>
                  <a:txBody>
                    <a:bodyPr/>
                    <a:lstStyle/>
                    <a:p>
                      <a:r>
                        <a:rPr lang="fr-FR" dirty="0">
                          <a:solidFill>
                            <a:schemeClr val="bg1"/>
                          </a:solidFill>
                        </a:rPr>
                        <a:t>1.1.1.1</a:t>
                      </a:r>
                    </a:p>
                  </a:txBody>
                  <a:tcPr anchor="ctr">
                    <a:solidFill>
                      <a:schemeClr val="accent1"/>
                    </a:solidFill>
                  </a:tcPr>
                </a:tc>
                <a:tc>
                  <a:txBody>
                    <a:bodyPr/>
                    <a:lstStyle/>
                    <a:p>
                      <a:r>
                        <a:rPr lang="fr-FR" dirty="0">
                          <a:solidFill>
                            <a:schemeClr val="bg1"/>
                          </a:solidFill>
                        </a:rPr>
                        <a:t>1.1.1.2</a:t>
                      </a:r>
                    </a:p>
                  </a:txBody>
                  <a:tcPr anchor="ctr">
                    <a:solidFill>
                      <a:schemeClr val="accent1"/>
                    </a:solidFill>
                  </a:tcPr>
                </a:tc>
                <a:tc>
                  <a:txBody>
                    <a:bodyPr/>
                    <a:lstStyle/>
                    <a:p>
                      <a:r>
                        <a:rPr lang="fr-FR" dirty="0">
                          <a:solidFill>
                            <a:schemeClr val="bg1"/>
                          </a:solidFill>
                        </a:rPr>
                        <a:t>1.1.1.3</a:t>
                      </a:r>
                    </a:p>
                  </a:txBody>
                  <a:tcPr anchor="ctr">
                    <a:solidFill>
                      <a:schemeClr val="accent1"/>
                    </a:solidFill>
                  </a:tcPr>
                </a:tc>
                <a:tc>
                  <a:txBody>
                    <a:bodyPr/>
                    <a:lstStyle/>
                    <a:p>
                      <a:r>
                        <a:rPr lang="fr-FR" dirty="0">
                          <a:solidFill>
                            <a:schemeClr val="bg1"/>
                          </a:solidFill>
                        </a:rPr>
                        <a:t>1.2.0.0</a:t>
                      </a:r>
                    </a:p>
                  </a:txBody>
                  <a:tcPr anchor="ctr">
                    <a:solidFill>
                      <a:schemeClr val="accent1"/>
                    </a:solidFill>
                  </a:tcPr>
                </a:tc>
                <a:extLst>
                  <a:ext uri="{0D108BD9-81ED-4DB2-BD59-A6C34878D82A}">
                    <a16:rowId xmlns:a16="http://schemas.microsoft.com/office/drawing/2014/main" val="407517425"/>
                  </a:ext>
                </a:extLst>
              </a:tr>
              <a:tr h="421410">
                <a:tc row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Gestion de compétition 2.0</a:t>
                      </a:r>
                    </a:p>
                  </a:txBody>
                  <a:tcPr vert="vert270" anchor="ctr">
                    <a:solidFill>
                      <a:schemeClr val="accent1"/>
                    </a:solidFill>
                  </a:tcPr>
                </a:tc>
                <a:tc>
                  <a:txBody>
                    <a:bodyPr/>
                    <a:lstStyle/>
                    <a:p>
                      <a:r>
                        <a:rPr lang="fr-FR" dirty="0">
                          <a:solidFill>
                            <a:schemeClr val="bg1"/>
                          </a:solidFill>
                        </a:rPr>
                        <a:t>1.2.5.1</a:t>
                      </a:r>
                    </a:p>
                  </a:txBody>
                  <a:tcPr anchor="ctr">
                    <a:solidFill>
                      <a:schemeClr val="accent1"/>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rgbClr val="FFC000"/>
                    </a:solidFill>
                  </a:tcPr>
                </a:tc>
                <a:extLst>
                  <a:ext uri="{0D108BD9-81ED-4DB2-BD59-A6C34878D82A}">
                    <a16:rowId xmlns:a16="http://schemas.microsoft.com/office/drawing/2014/main" val="1939122409"/>
                  </a:ext>
                </a:extLst>
              </a:tr>
              <a:tr h="421410">
                <a:tc vMerge="1">
                  <a:txBody>
                    <a:bodyPr/>
                    <a:lstStyle/>
                    <a:p>
                      <a:endParaRPr lang="fr-FR" dirty="0"/>
                    </a:p>
                  </a:txBody>
                  <a:tcPr/>
                </a:tc>
                <a:tc>
                  <a:txBody>
                    <a:bodyPr/>
                    <a:lstStyle/>
                    <a:p>
                      <a:r>
                        <a:rPr lang="fr-FR" dirty="0">
                          <a:solidFill>
                            <a:schemeClr val="bg1"/>
                          </a:solidFill>
                        </a:rPr>
                        <a:t>1.2.6.0</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extLst>
                  <a:ext uri="{0D108BD9-81ED-4DB2-BD59-A6C34878D82A}">
                    <a16:rowId xmlns:a16="http://schemas.microsoft.com/office/drawing/2014/main" val="3964935851"/>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1.2.6.1</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extLst>
                  <a:ext uri="{0D108BD9-81ED-4DB2-BD59-A6C34878D82A}">
                    <a16:rowId xmlns:a16="http://schemas.microsoft.com/office/drawing/2014/main" val="2246006590"/>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1.2.6.3</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extLst>
                  <a:ext uri="{0D108BD9-81ED-4DB2-BD59-A6C34878D82A}">
                    <a16:rowId xmlns:a16="http://schemas.microsoft.com/office/drawing/2014/main" val="836719246"/>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1.2.6.5</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extLst>
                  <a:ext uri="{0D108BD9-81ED-4DB2-BD59-A6C34878D82A}">
                    <a16:rowId xmlns:a16="http://schemas.microsoft.com/office/drawing/2014/main" val="1191909874"/>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205101607"/>
              </p:ext>
            </p:extLst>
          </p:nvPr>
        </p:nvGraphicFramePr>
        <p:xfrm>
          <a:off x="1505207" y="5963403"/>
          <a:ext cx="8861428" cy="52820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528202">
                <a:tc>
                  <a:txBody>
                    <a:bodyPr/>
                    <a:lstStyle/>
                    <a:p>
                      <a:pPr algn="r"/>
                      <a:r>
                        <a:rPr lang="fr-FR" sz="1400" i="1" dirty="0"/>
                        <a:t>Légende:</a:t>
                      </a:r>
                    </a:p>
                  </a:txBody>
                  <a:tcPr anchor="ctr"/>
                </a:tc>
                <a:tc>
                  <a:txBody>
                    <a:bodyPr/>
                    <a:lstStyle/>
                    <a:p>
                      <a:r>
                        <a:rPr lang="fr-FR" sz="1400" i="1" dirty="0"/>
                        <a:t>Compatible</a:t>
                      </a:r>
                    </a:p>
                  </a:txBody>
                  <a:tcPr anchor="ctr">
                    <a:solidFill>
                      <a:schemeClr val="accent6"/>
                    </a:solidFill>
                  </a:tcPr>
                </a:tc>
                <a:tc>
                  <a:txBody>
                    <a:bodyPr/>
                    <a:lstStyle/>
                    <a:p>
                      <a:r>
                        <a:rPr lang="fr-FR" sz="1400" i="1" dirty="0"/>
                        <a:t>Utilisable mais certaines données peuvent ne pas s’afficher correctement</a:t>
                      </a:r>
                    </a:p>
                  </a:txBody>
                  <a:tcPr anchor="ctr">
                    <a:solidFill>
                      <a:schemeClr val="accent4"/>
                    </a:solidFill>
                  </a:tcPr>
                </a:tc>
                <a:tc>
                  <a:txBody>
                    <a:bodyPr/>
                    <a:lstStyle/>
                    <a:p>
                      <a:r>
                        <a:rPr lang="fr-FR" sz="14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427871" y="1719483"/>
            <a:ext cx="11240253" cy="4862292"/>
          </a:xfrm>
        </p:spPr>
        <p:txBody>
          <a:bodyPr/>
          <a:lstStyle/>
          <a:p>
            <a:r>
              <a:rPr lang="fr-FR" sz="1200" b="1" dirty="0">
                <a:latin typeface="Barlow" panose="00000500000000000000" pitchFamily="2" charset="0"/>
              </a:rPr>
              <a:t>v1.2.0.0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endParaRPr lang="fr-FR" sz="1200" b="1" dirty="0">
              <a:latin typeface="Barlow" panose="00000500000000000000" pitchFamily="2" charset="0"/>
            </a:endParaRPr>
          </a:p>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Tree>
    <p:extLst>
      <p:ext uri="{BB962C8B-B14F-4D97-AF65-F5344CB8AC3E}">
        <p14:creationId xmlns:p14="http://schemas.microsoft.com/office/powerpoint/2010/main" val="21024270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098858" y="46332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307832" y="39727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307833" y="4830745"/>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stCxn id="3" idx="3"/>
            <a:endCxn id="5" idx="1"/>
          </p:cNvCxnSpPr>
          <p:nvPr/>
        </p:nvCxnSpPr>
        <p:spPr>
          <a:xfrm flipV="1">
            <a:off x="7727634" y="4236952"/>
            <a:ext cx="1580198" cy="6605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a:off x="7727634" y="4897452"/>
            <a:ext cx="1580199" cy="19749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098858" y="5615884"/>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107808" y="5821313"/>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a:off x="7727634" y="5880084"/>
            <a:ext cx="1380174" cy="20542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098858" y="1685358"/>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5985982" y="2667989"/>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184007" y="2300831"/>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8" name="Image 37">
            <a:extLst>
              <a:ext uri="{FF2B5EF4-FFF2-40B4-BE49-F238E27FC236}">
                <a16:creationId xmlns:a16="http://schemas.microsoft.com/office/drawing/2014/main" id="{F27717C4-85AF-F32E-A5B5-CA748D196B86}"/>
              </a:ext>
            </a:extLst>
          </p:cNvPr>
          <p:cNvPicPr>
            <a:picLocks noChangeAspect="1"/>
          </p:cNvPicPr>
          <p:nvPr/>
        </p:nvPicPr>
        <p:blipFill>
          <a:blip r:embed="rId2"/>
          <a:stretch>
            <a:fillRect/>
          </a:stretch>
        </p:blipFill>
        <p:spPr>
          <a:xfrm>
            <a:off x="2795211" y="2966790"/>
            <a:ext cx="1390650" cy="2295525"/>
          </a:xfrm>
          <a:prstGeom prst="rect">
            <a:avLst/>
          </a:prstGeom>
        </p:spPr>
      </p:pic>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85747" y="1667041"/>
            <a:ext cx="1709361" cy="579970"/>
          </a:xfrm>
          <a:prstGeom prst="accentBorderCallout1">
            <a:avLst>
              <a:gd name="adj1" fmla="val 18750"/>
              <a:gd name="adj2" fmla="val -8333"/>
              <a:gd name="adj3" fmla="val 114939"/>
              <a:gd name="adj4" fmla="val -487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28598" y="2597337"/>
            <a:ext cx="1725000" cy="579970"/>
          </a:xfrm>
          <a:prstGeom prst="accentBorderCallout1">
            <a:avLst>
              <a:gd name="adj1" fmla="val 18750"/>
              <a:gd name="adj2" fmla="val -8333"/>
              <a:gd name="adj3" fmla="val 79037"/>
              <a:gd name="adj4" fmla="val -5000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28598" y="3532043"/>
            <a:ext cx="1725000" cy="710686"/>
          </a:xfrm>
          <a:prstGeom prst="accentBorderCallout1">
            <a:avLst>
              <a:gd name="adj1" fmla="val 18750"/>
              <a:gd name="adj2" fmla="val -8333"/>
              <a:gd name="adj3" fmla="val -13837"/>
              <a:gd name="adj4" fmla="val -501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8594" y="5877678"/>
            <a:ext cx="1680033" cy="436961"/>
          </a:xfrm>
          <a:prstGeom prst="accentBorderCallout1">
            <a:avLst>
              <a:gd name="adj1" fmla="val 18750"/>
              <a:gd name="adj2" fmla="val -8333"/>
              <a:gd name="adj3" fmla="val -268585"/>
              <a:gd name="adj4" fmla="val -595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795211" y="4398492"/>
            <a:ext cx="1402743" cy="30304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1" y="367539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16827" y="4143636"/>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02213" y="4497937"/>
            <a:ext cx="1751385" cy="454039"/>
          </a:xfrm>
          <a:prstGeom prst="accentBorderCallout1">
            <a:avLst>
              <a:gd name="adj1" fmla="val 18750"/>
              <a:gd name="adj2" fmla="val -8333"/>
              <a:gd name="adj3" fmla="val -139623"/>
              <a:gd name="adj4" fmla="val -5156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8594" y="5161652"/>
            <a:ext cx="1766513"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5975033" y="3650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862408" y="2565031"/>
            <a:ext cx="1321599" cy="367158"/>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34" idx="1"/>
          </p:cNvCxnSpPr>
          <p:nvPr/>
        </p:nvCxnSpPr>
        <p:spPr>
          <a:xfrm flipV="1">
            <a:off x="4061940" y="1949558"/>
            <a:ext cx="2036918" cy="18280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a:endCxn id="36" idx="1"/>
          </p:cNvCxnSpPr>
          <p:nvPr/>
        </p:nvCxnSpPr>
        <p:spPr>
          <a:xfrm flipV="1">
            <a:off x="4053467" y="2932189"/>
            <a:ext cx="1932515" cy="1088666"/>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62" idx="1"/>
          </p:cNvCxnSpPr>
          <p:nvPr/>
        </p:nvCxnSpPr>
        <p:spPr>
          <a:xfrm flipV="1">
            <a:off x="4053466" y="3914820"/>
            <a:ext cx="1921567" cy="34346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a:off x="4061940" y="4533141"/>
            <a:ext cx="2036918" cy="36431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053466" y="4818463"/>
            <a:ext cx="2045392" cy="106162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a:t>
            </a:r>
            <a:r>
              <a:rPr lang="fr-FR"/>
              <a:t>– Affectations</a:t>
            </a:r>
            <a:endParaRPr lang="fr-FR" dirty="0"/>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8" name="Image 7">
            <a:extLst>
              <a:ext uri="{FF2B5EF4-FFF2-40B4-BE49-F238E27FC236}">
                <a16:creationId xmlns:a16="http://schemas.microsoft.com/office/drawing/2014/main" id="{066E5572-6340-2C2B-1EAB-DFA394DBAE1F}"/>
              </a:ext>
            </a:extLst>
          </p:cNvPr>
          <p:cNvPicPr>
            <a:picLocks noChangeAspect="1"/>
          </p:cNvPicPr>
          <p:nvPr/>
        </p:nvPicPr>
        <p:blipFill>
          <a:blip r:embed="rId2"/>
          <a:stretch>
            <a:fillRect/>
          </a:stretch>
        </p:blipFill>
        <p:spPr>
          <a:xfrm>
            <a:off x="2036567" y="2625763"/>
            <a:ext cx="3406844" cy="1368416"/>
          </a:xfrm>
          <a:prstGeom prst="rect">
            <a:avLst/>
          </a:prstGeom>
        </p:spPr>
      </p:pic>
      <p:pic>
        <p:nvPicPr>
          <p:cNvPr id="10" name="Image 9">
            <a:extLst>
              <a:ext uri="{FF2B5EF4-FFF2-40B4-BE49-F238E27FC236}">
                <a16:creationId xmlns:a16="http://schemas.microsoft.com/office/drawing/2014/main" id="{84A83F4B-86F5-930D-FC59-4C8FC58BB007}"/>
              </a:ext>
            </a:extLst>
          </p:cNvPr>
          <p:cNvPicPr>
            <a:picLocks noChangeAspect="1"/>
          </p:cNvPicPr>
          <p:nvPr/>
        </p:nvPicPr>
        <p:blipFill>
          <a:blip r:embed="rId3"/>
          <a:stretch>
            <a:fillRect/>
          </a:stretch>
        </p:blipFill>
        <p:spPr>
          <a:xfrm>
            <a:off x="10217705" y="1460595"/>
            <a:ext cx="2317857" cy="2612928"/>
          </a:xfrm>
          <a:prstGeom prst="rect">
            <a:avLst/>
          </a:prstGeom>
        </p:spPr>
      </p:pic>
      <p:pic>
        <p:nvPicPr>
          <p:cNvPr id="14" name="Image 13">
            <a:extLst>
              <a:ext uri="{FF2B5EF4-FFF2-40B4-BE49-F238E27FC236}">
                <a16:creationId xmlns:a16="http://schemas.microsoft.com/office/drawing/2014/main" id="{950C9954-067A-8AF1-0772-994A38604207}"/>
              </a:ext>
            </a:extLst>
          </p:cNvPr>
          <p:cNvPicPr>
            <a:picLocks noChangeAspect="1"/>
          </p:cNvPicPr>
          <p:nvPr/>
        </p:nvPicPr>
        <p:blipFill>
          <a:blip r:embed="rId4"/>
          <a:stretch>
            <a:fillRect/>
          </a:stretch>
        </p:blipFill>
        <p:spPr>
          <a:xfrm>
            <a:off x="-1248608" y="1840470"/>
            <a:ext cx="3671095" cy="4307418"/>
          </a:xfrm>
          <a:prstGeom prst="rect">
            <a:avLst/>
          </a:prstGeom>
        </p:spPr>
      </p:pic>
      <p:pic>
        <p:nvPicPr>
          <p:cNvPr id="16" name="Image 15">
            <a:extLst>
              <a:ext uri="{FF2B5EF4-FFF2-40B4-BE49-F238E27FC236}">
                <a16:creationId xmlns:a16="http://schemas.microsoft.com/office/drawing/2014/main" id="{26358DEA-1DB6-6C4A-DE6F-700D0B5A550F}"/>
              </a:ext>
            </a:extLst>
          </p:cNvPr>
          <p:cNvPicPr>
            <a:picLocks noChangeAspect="1"/>
          </p:cNvPicPr>
          <p:nvPr/>
        </p:nvPicPr>
        <p:blipFill>
          <a:blip r:embed="rId5"/>
          <a:stretch>
            <a:fillRect/>
          </a:stretch>
        </p:blipFill>
        <p:spPr>
          <a:xfrm>
            <a:off x="5047171" y="5439237"/>
            <a:ext cx="1913750" cy="2003058"/>
          </a:xfrm>
          <a:prstGeom prst="rect">
            <a:avLst/>
          </a:prstGeom>
        </p:spPr>
      </p:pic>
      <p:pic>
        <p:nvPicPr>
          <p:cNvPr id="18" name="Image 17">
            <a:extLst>
              <a:ext uri="{FF2B5EF4-FFF2-40B4-BE49-F238E27FC236}">
                <a16:creationId xmlns:a16="http://schemas.microsoft.com/office/drawing/2014/main" id="{D240CAB1-D68C-CA07-70D3-F3C106D575ED}"/>
              </a:ext>
            </a:extLst>
          </p:cNvPr>
          <p:cNvPicPr>
            <a:picLocks noChangeAspect="1"/>
          </p:cNvPicPr>
          <p:nvPr/>
        </p:nvPicPr>
        <p:blipFill>
          <a:blip r:embed="rId6"/>
          <a:stretch>
            <a:fillRect/>
          </a:stretch>
        </p:blipFill>
        <p:spPr>
          <a:xfrm>
            <a:off x="6534194" y="2240095"/>
            <a:ext cx="2390905" cy="2724520"/>
          </a:xfrm>
          <a:prstGeom prst="rect">
            <a:avLst/>
          </a:prstGeom>
        </p:spPr>
      </p:pic>
      <p:pic>
        <p:nvPicPr>
          <p:cNvPr id="20" name="Image 19">
            <a:extLst>
              <a:ext uri="{FF2B5EF4-FFF2-40B4-BE49-F238E27FC236}">
                <a16:creationId xmlns:a16="http://schemas.microsoft.com/office/drawing/2014/main" id="{21ACF429-4526-0F38-BD0E-2384D28BFB81}"/>
              </a:ext>
            </a:extLst>
          </p:cNvPr>
          <p:cNvPicPr>
            <a:picLocks noChangeAspect="1"/>
          </p:cNvPicPr>
          <p:nvPr/>
        </p:nvPicPr>
        <p:blipFill>
          <a:blip r:embed="rId7"/>
          <a:stretch>
            <a:fillRect/>
          </a:stretch>
        </p:blipFill>
        <p:spPr>
          <a:xfrm>
            <a:off x="6854003" y="4021968"/>
            <a:ext cx="2981060" cy="3711419"/>
          </a:xfrm>
          <a:prstGeom prst="rect">
            <a:avLst/>
          </a:prstGeom>
        </p:spPr>
      </p:pic>
      <p:pic>
        <p:nvPicPr>
          <p:cNvPr id="22" name="Image 21">
            <a:extLst>
              <a:ext uri="{FF2B5EF4-FFF2-40B4-BE49-F238E27FC236}">
                <a16:creationId xmlns:a16="http://schemas.microsoft.com/office/drawing/2014/main" id="{53EEE493-C936-0FFA-48F0-A60FDD464B8D}"/>
              </a:ext>
            </a:extLst>
          </p:cNvPr>
          <p:cNvPicPr>
            <a:picLocks noChangeAspect="1"/>
          </p:cNvPicPr>
          <p:nvPr/>
        </p:nvPicPr>
        <p:blipFill>
          <a:blip r:embed="rId8"/>
          <a:stretch>
            <a:fillRect/>
          </a:stretch>
        </p:blipFill>
        <p:spPr>
          <a:xfrm>
            <a:off x="6534194" y="1524185"/>
            <a:ext cx="3406843" cy="2533875"/>
          </a:xfrm>
          <a:prstGeom prst="rect">
            <a:avLst/>
          </a:prstGeom>
        </p:spPr>
      </p:pic>
      <p:pic>
        <p:nvPicPr>
          <p:cNvPr id="24" name="Image 23">
            <a:extLst>
              <a:ext uri="{FF2B5EF4-FFF2-40B4-BE49-F238E27FC236}">
                <a16:creationId xmlns:a16="http://schemas.microsoft.com/office/drawing/2014/main" id="{EFF88715-C0AB-E6D5-2DA1-96C21C8428E6}"/>
              </a:ext>
            </a:extLst>
          </p:cNvPr>
          <p:cNvPicPr>
            <a:picLocks noChangeAspect="1"/>
          </p:cNvPicPr>
          <p:nvPr/>
        </p:nvPicPr>
        <p:blipFill>
          <a:blip r:embed="rId9"/>
          <a:stretch>
            <a:fillRect/>
          </a:stretch>
        </p:blipFill>
        <p:spPr>
          <a:xfrm>
            <a:off x="9111212" y="4324125"/>
            <a:ext cx="3348535" cy="2533875"/>
          </a:xfrm>
          <a:prstGeom prst="rect">
            <a:avLst/>
          </a:prstGeom>
        </p:spPr>
      </p:pic>
    </p:spTree>
    <p:extLst>
      <p:ext uri="{BB962C8B-B14F-4D97-AF65-F5344CB8AC3E}">
        <p14:creationId xmlns:p14="http://schemas.microsoft.com/office/powerpoint/2010/main" val="24077695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texte 3">
            <a:extLst>
              <a:ext uri="{FF2B5EF4-FFF2-40B4-BE49-F238E27FC236}">
                <a16:creationId xmlns:a16="http://schemas.microsoft.com/office/drawing/2014/main" id="{B34A2E28-8332-4A52-825F-FE0C7BBC4CC4}"/>
              </a:ext>
            </a:extLst>
          </p:cNvPr>
          <p:cNvSpPr>
            <a:spLocks noGrp="1"/>
          </p:cNvSpPr>
          <p:nvPr>
            <p:ph type="body" sz="quarter" idx="10"/>
          </p:nvPr>
        </p:nvSpPr>
        <p:spPr/>
        <p:txBody>
          <a:bodyPr/>
          <a:lstStyle/>
          <a:p>
            <a:pPr algn="ctr"/>
            <a:r>
              <a:rPr lang="fr-FR" sz="1300" b="1" dirty="0"/>
              <a:t>CONTACT</a:t>
            </a:r>
          </a:p>
          <a:p>
            <a:pPr algn="ctr"/>
            <a:r>
              <a:rPr lang="fr-FR" dirty="0"/>
              <a:t>Daniel GARRIVIER</a:t>
            </a:r>
          </a:p>
          <a:p>
            <a:pPr algn="ctr"/>
            <a:r>
              <a:rPr lang="fr-FR" dirty="0"/>
              <a:t>ext.daniel.garrivier@ffjudo.com</a:t>
            </a:r>
          </a:p>
          <a:p>
            <a:pPr algn="ctr"/>
            <a:r>
              <a:rPr lang="fr-FR" dirty="0"/>
              <a:t>-- -- -- -- --</a:t>
            </a:r>
          </a:p>
        </p:txBody>
      </p:sp>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2.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5434</TotalTime>
  <Words>2267</Words>
  <Application>Microsoft Office PowerPoint</Application>
  <PresentationFormat>Grand écran</PresentationFormat>
  <Paragraphs>306</Paragraphs>
  <Slides>34</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34</vt:i4>
      </vt:variant>
    </vt:vector>
  </HeadingPairs>
  <TitlesOfParts>
    <vt:vector size="46"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Ecrans &amp; fonctionnalités</vt:lpstr>
      <vt:lpstr>Principe de fonctionnement</vt:lpstr>
      <vt:lpstr>Ecran Principal</vt:lpstr>
      <vt:lpstr>Ecran Principal – Panneau de commande principal</vt:lpstr>
      <vt:lpstr>Ecran Principal – Publication locale</vt:lpstr>
      <vt:lpstr>Ecran Principal – Publication distante</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Mise en œuvre</vt:lpstr>
      <vt:lpstr>Installation</vt:lpstr>
      <vt:lpstr> Publier une compétition sur un site distant</vt:lpstr>
      <vt:lpstr> Publier une compétition sur le site local</vt:lpstr>
      <vt:lpstr>Dépannage</vt:lpstr>
      <vt:lpstr>Principe de fonctionnement</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Site utilisateur</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69</cp:revision>
  <dcterms:created xsi:type="dcterms:W3CDTF">2021-04-26T15:18:08Z</dcterms:created>
  <dcterms:modified xsi:type="dcterms:W3CDTF">2024-03-17T18:31:11Z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ies>
</file>