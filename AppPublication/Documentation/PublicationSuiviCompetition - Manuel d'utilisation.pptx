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54"/>
  </p:notesMasterIdLst>
  <p:handoutMasterIdLst>
    <p:handoutMasterId r:id="rId55"/>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07" r:id="rId22"/>
    <p:sldId id="313" r:id="rId23"/>
    <p:sldId id="317" r:id="rId24"/>
    <p:sldId id="318" r:id="rId25"/>
    <p:sldId id="336" r:id="rId26"/>
    <p:sldId id="319" r:id="rId27"/>
    <p:sldId id="337" r:id="rId28"/>
    <p:sldId id="320" r:id="rId29"/>
    <p:sldId id="314" r:id="rId30"/>
    <p:sldId id="315" r:id="rId31"/>
    <p:sldId id="321" r:id="rId32"/>
    <p:sldId id="322" r:id="rId33"/>
    <p:sldId id="316" r:id="rId34"/>
    <p:sldId id="338" r:id="rId35"/>
    <p:sldId id="339" r:id="rId36"/>
    <p:sldId id="311" r:id="rId37"/>
    <p:sldId id="312" r:id="rId38"/>
    <p:sldId id="334" r:id="rId39"/>
    <p:sldId id="335" r:id="rId40"/>
    <p:sldId id="303" r:id="rId41"/>
    <p:sldId id="304" r:id="rId42"/>
    <p:sldId id="344" r:id="rId43"/>
    <p:sldId id="306" r:id="rId44"/>
    <p:sldId id="326" r:id="rId45"/>
    <p:sldId id="329" r:id="rId46"/>
    <p:sldId id="327" r:id="rId47"/>
    <p:sldId id="328" r:id="rId48"/>
    <p:sldId id="330" r:id="rId49"/>
    <p:sldId id="331" r:id="rId50"/>
    <p:sldId id="332" r:id="rId51"/>
    <p:sldId id="343" r:id="rId52"/>
    <p:sldId id="297" r:id="rId5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F6F9"/>
    <a:srgbClr val="FFFFFF"/>
    <a:srgbClr val="F6F2F3"/>
    <a:srgbClr val="494A4D"/>
    <a:srgbClr val="2349E3"/>
    <a:srgbClr val="1938FF"/>
    <a:srgbClr val="090095"/>
    <a:srgbClr val="1938B3"/>
    <a:srgbClr val="0A0096"/>
    <a:srgbClr val="0A33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6005" autoAdjust="0"/>
  </p:normalViewPr>
  <p:slideViewPr>
    <p:cSldViewPr snapToGrid="0">
      <p:cViewPr varScale="1">
        <p:scale>
          <a:sx n="102" d="100"/>
          <a:sy n="102" d="100"/>
        </p:scale>
        <p:origin x="1272" y="31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viewProps" Target="viewProps.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07/04/2026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07/04/2026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v2.0.0.0 – 01/05/2026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9.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9.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V2.0.0.0 – 05/2026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Il permet également de gérer des écrans d’appels, utilisables uniquement sur le </a:t>
            </a:r>
            <a:r>
              <a:rPr lang="fr-FR" sz="1600" dirty="0" err="1"/>
              <a:t>le</a:t>
            </a:r>
            <a:r>
              <a:rPr lang="fr-FR" sz="1600" dirty="0"/>
              <a:t> réseau local du site de la compétition.</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400" i="1" dirty="0"/>
              <a:t>« </a:t>
            </a:r>
            <a:r>
              <a:rPr lang="fr-FR" sz="1400" i="1" dirty="0" err="1"/>
              <a:t>PublicationSuiviCompetition</a:t>
            </a:r>
            <a:r>
              <a:rPr lang="fr-FR" sz="1400" i="1" dirty="0"/>
              <a:t> » nécessite d’être connecté à une instance de « Gestion de compétition 2.0 » exécutant le déroulement de la compétition.</a:t>
            </a:r>
          </a:p>
          <a:p>
            <a:r>
              <a:rPr lang="fr-FR" sz="14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et/ou les écrans d’appel,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a:p>
            <a:pPr marL="101598" indent="0">
              <a:buNone/>
            </a:pPr>
            <a:r>
              <a:rPr lang="fr-FR" sz="16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générée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endParaRPr lang="fr-FR" sz="1800" dirty="0"/>
          </a:p>
          <a:p>
            <a:pPr marL="101598" indent="0">
              <a:buNone/>
            </a:pPr>
            <a:r>
              <a:rPr lang="fr-FR" sz="1800" b="1" i="1" dirty="0"/>
              <a:t>Note</a:t>
            </a:r>
            <a:r>
              <a:rPr lang="fr-FR" sz="1800" i="1" dirty="0"/>
              <a:t>: </a:t>
            </a:r>
            <a:r>
              <a:rPr lang="fr-FR" sz="1600" i="1" dirty="0"/>
              <a:t>En cas de publication distante, l’accès des utilisateurs se fait via l’adresse distante de l’hébergeur ou du site France Judo. Il n’y a pas de lien direct avec </a:t>
            </a:r>
            <a:r>
              <a:rPr lang="fr-FR" sz="1600" i="1" dirty="0">
                <a:latin typeface="Barlow" panose="00000500000000000000" pitchFamily="2" charset="0"/>
              </a:rPr>
              <a:t>« </a:t>
            </a:r>
            <a:r>
              <a:rPr lang="fr-FR" sz="1600" i="1" dirty="0" err="1">
                <a:latin typeface="Barlow" panose="00000500000000000000" pitchFamily="2" charset="0"/>
              </a:rPr>
              <a:t>PublicationSuiviCompetition</a:t>
            </a:r>
            <a:r>
              <a:rPr lang="fr-FR" sz="16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en-US" dirty="0"/>
              <a:t>Principe de </a:t>
            </a:r>
            <a:r>
              <a:rPr lang="en-US" dirty="0" err="1"/>
              <a:t>fonctionnement</a:t>
            </a:r>
            <a:endParaRPr lang="en-US" dirty="0"/>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p:txBody>
          <a:bodyPr/>
          <a:lstStyle/>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des écrans d’appel sur la base des dernières informations de déroulement dont il dispose.</a:t>
            </a:r>
          </a:p>
          <a:p>
            <a:r>
              <a:rPr lang="en-US" sz="1800" dirty="0"/>
              <a:t>Tous les </a:t>
            </a:r>
            <a:r>
              <a:rPr lang="en-US" sz="1800" dirty="0" err="1"/>
              <a:t>écrans</a:t>
            </a:r>
            <a:r>
              <a:rPr lang="en-US" sz="1800" dirty="0"/>
              <a:t> </a:t>
            </a:r>
            <a:r>
              <a:rPr lang="en-US" sz="1800" dirty="0" err="1"/>
              <a:t>d’appel</a:t>
            </a:r>
            <a:r>
              <a:rPr lang="en-US" sz="1800" dirty="0"/>
              <a:t> (PC, </a:t>
            </a:r>
            <a:r>
              <a:rPr lang="en-US" sz="1800" dirty="0" err="1"/>
              <a:t>SmartTV</a:t>
            </a:r>
            <a:r>
              <a:rPr lang="en-US" sz="1800" dirty="0"/>
              <a:t>, etc.) </a:t>
            </a:r>
            <a:r>
              <a:rPr lang="en-US" sz="1800" dirty="0" err="1"/>
              <a:t>contactent</a:t>
            </a:r>
            <a:r>
              <a:rPr lang="en-US" sz="1800" dirty="0"/>
              <a:t> le poste </a:t>
            </a:r>
            <a:r>
              <a:rPr lang="en-US" sz="1800" dirty="0" err="1"/>
              <a:t>exécutant</a:t>
            </a:r>
            <a:r>
              <a:rPr lang="en-US" sz="1800" dirty="0"/>
              <a:t> l</a:t>
            </a:r>
            <a:r>
              <a:rPr lang="fr-FR" sz="1800" dirty="0">
                <a:latin typeface="Barlow" panose="00000500000000000000" pitchFamily="2" charset="0"/>
              </a:rPr>
              <a:t>e logiciel « </a:t>
            </a:r>
            <a:r>
              <a:rPr lang="fr-FR" sz="1800" dirty="0" err="1">
                <a:latin typeface="Barlow" panose="00000500000000000000" pitchFamily="2" charset="0"/>
              </a:rPr>
              <a:t>PublicationSuiviCompetition</a:t>
            </a:r>
            <a:r>
              <a:rPr lang="fr-FR" sz="1800" dirty="0">
                <a:latin typeface="Barlow" panose="00000500000000000000" pitchFamily="2" charset="0"/>
              </a:rPr>
              <a:t> » sur une même adresse.</a:t>
            </a:r>
          </a:p>
          <a:p>
            <a:r>
              <a:rPr lang="fr-FR" sz="1800" dirty="0">
                <a:latin typeface="Barlow" panose="00000500000000000000" pitchFamily="2" charset="0"/>
              </a:rPr>
              <a:t>Une fois identifié par nom adresse sur le réseau, chaque écran reçoit la page qui lui a été assigné et configuré (ou la page par défaut si l’écran n’est pas référencé).</a:t>
            </a:r>
            <a:endParaRPr lang="en-US" sz="180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1" name="Groupe 40">
            <a:extLst>
              <a:ext uri="{FF2B5EF4-FFF2-40B4-BE49-F238E27FC236}">
                <a16:creationId xmlns:a16="http://schemas.microsoft.com/office/drawing/2014/main" id="{EDC9AC2D-CC81-2320-6516-F37595D9B3DB}"/>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34B86F24-099F-E781-45C5-7F7E55C9FA56}"/>
                </a:ext>
              </a:extLst>
            </p:cNvPr>
            <p:cNvPicPr>
              <a:picLocks noChangeAspect="1"/>
            </p:cNvPicPr>
            <p:nvPr/>
          </p:nvPicPr>
          <p:blipFill rotWithShape="1">
            <a:blip r:embed="rId3"/>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FD93FD8A-B4B4-CBE6-FC1A-CB14CD5E5722}"/>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A5A9E80C-A9D6-833E-3AE1-D7B967E81576}"/>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484F2DAA-B641-16C3-D097-319A864BEF2A}"/>
                </a:ext>
              </a:extLst>
            </p:cNvPr>
            <p:cNvPicPr>
              <a:picLocks noChangeAspect="1"/>
            </p:cNvPicPr>
            <p:nvPr/>
          </p:nvPicPr>
          <p:blipFill rotWithShape="1">
            <a:blip r:embed="rId3"/>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B399E4B5-EEBA-5E7E-9706-A4A3014A867F}"/>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200DFA5D-AB23-891D-C819-D3D8848BEC11}"/>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A3905DB8-B84D-6D61-89D6-3F74816CBC7F}"/>
                </a:ext>
              </a:extLst>
            </p:cNvPr>
            <p:cNvPicPr>
              <a:picLocks noChangeAspect="1"/>
            </p:cNvPicPr>
            <p:nvPr/>
          </p:nvPicPr>
          <p:blipFill rotWithShape="1">
            <a:blip r:embed="rId3"/>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0276365E-197C-04F1-40F9-589942247FAC}"/>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4"/>
          <a:stretch>
            <a:fillRect/>
          </a:stretch>
        </p:blipFill>
        <p:spPr>
          <a:xfrm>
            <a:off x="9480669" y="4898262"/>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349798"/>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7" name="Group 16">
            <a:extLst>
              <a:ext uri="{FF2B5EF4-FFF2-40B4-BE49-F238E27FC236}">
                <a16:creationId xmlns:a16="http://schemas.microsoft.com/office/drawing/2014/main" id="{D8F1E100-AE04-8421-098E-CFC9EA88F625}"/>
              </a:ext>
            </a:extLst>
          </p:cNvPr>
          <p:cNvGrpSpPr/>
          <p:nvPr/>
        </p:nvGrpSpPr>
        <p:grpSpPr>
          <a:xfrm>
            <a:off x="6642144" y="4050616"/>
            <a:ext cx="2426085" cy="291138"/>
            <a:chOff x="6642144" y="4103956"/>
            <a:chExt cx="2426085" cy="291138"/>
          </a:xfrm>
        </p:grpSpPr>
        <p:pic>
          <p:nvPicPr>
            <p:cNvPr id="16" name="Picture 15">
              <a:extLst>
                <a:ext uri="{FF2B5EF4-FFF2-40B4-BE49-F238E27FC236}">
                  <a16:creationId xmlns:a16="http://schemas.microsoft.com/office/drawing/2014/main" id="{9169A7EE-18F1-3D9D-A037-59F0BF2D5A1D}"/>
                </a:ext>
              </a:extLst>
            </p:cNvPr>
            <p:cNvPicPr>
              <a:picLocks noChangeAspect="1"/>
            </p:cNvPicPr>
            <p:nvPr/>
          </p:nvPicPr>
          <p:blipFill>
            <a:blip r:embed="rId6"/>
            <a:srcRect l="65166" t="5981"/>
            <a:stretch>
              <a:fillRect/>
            </a:stretch>
          </p:blipFill>
          <p:spPr>
            <a:xfrm>
              <a:off x="6642144" y="4103956"/>
              <a:ext cx="2426085" cy="291138"/>
            </a:xfrm>
            <a:prstGeom prst="rect">
              <a:avLst/>
            </a:prstGeom>
          </p:spPr>
        </p:pic>
        <p:sp>
          <p:nvSpPr>
            <p:cNvPr id="33" name="Rectangle 32">
              <a:extLst>
                <a:ext uri="{FF2B5EF4-FFF2-40B4-BE49-F238E27FC236}">
                  <a16:creationId xmlns:a16="http://schemas.microsoft.com/office/drawing/2014/main" id="{F3D3660D-B9AF-5EFF-1E77-AA35B4D70476}"/>
                </a:ext>
              </a:extLst>
            </p:cNvPr>
            <p:cNvSpPr/>
            <p:nvPr/>
          </p:nvSpPr>
          <p:spPr>
            <a:xfrm>
              <a:off x="8298711" y="4123334"/>
              <a:ext cx="628595"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983370"/>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3"/>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4"/>
          <a:srcRect l="50846" t="59178" r="878" b="8456"/>
          <a:stretch/>
        </p:blipFill>
        <p:spPr>
          <a:xfrm>
            <a:off x="9496606" y="4854353"/>
            <a:ext cx="1882449" cy="748341"/>
          </a:xfrm>
          <a:prstGeom prst="rect">
            <a:avLst/>
          </a:prstGeom>
        </p:spPr>
      </p:pic>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3"/>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3"/>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1" name="Group 10">
            <a:extLst>
              <a:ext uri="{FF2B5EF4-FFF2-40B4-BE49-F238E27FC236}">
                <a16:creationId xmlns:a16="http://schemas.microsoft.com/office/drawing/2014/main" id="{1514BB68-C96B-E8D1-10E4-7086CCF331BB}"/>
              </a:ext>
            </a:extLst>
          </p:cNvPr>
          <p:cNvGrpSpPr/>
          <p:nvPr/>
        </p:nvGrpSpPr>
        <p:grpSpPr>
          <a:xfrm>
            <a:off x="6642144" y="4050616"/>
            <a:ext cx="2426085" cy="291138"/>
            <a:chOff x="6642144" y="4103956"/>
            <a:chExt cx="2426085" cy="291138"/>
          </a:xfrm>
        </p:grpSpPr>
        <p:pic>
          <p:nvPicPr>
            <p:cNvPr id="12" name="Picture 11">
              <a:extLst>
                <a:ext uri="{FF2B5EF4-FFF2-40B4-BE49-F238E27FC236}">
                  <a16:creationId xmlns:a16="http://schemas.microsoft.com/office/drawing/2014/main" id="{2AD45F4F-D568-369F-F408-FFB47E50F317}"/>
                </a:ext>
              </a:extLst>
            </p:cNvPr>
            <p:cNvPicPr>
              <a:picLocks noChangeAspect="1"/>
            </p:cNvPicPr>
            <p:nvPr/>
          </p:nvPicPr>
          <p:blipFill>
            <a:blip r:embed="rId6"/>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B77F5363-BCE2-C1C8-39CC-9FD16BEB1384}"/>
                </a:ext>
              </a:extLst>
            </p:cNvPr>
            <p:cNvSpPr/>
            <p:nvPr/>
          </p:nvSpPr>
          <p:spPr>
            <a:xfrm>
              <a:off x="8298711" y="4123334"/>
              <a:ext cx="628595"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3"/>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3"/>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4"/>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5"/>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6"/>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 de la chambre d’appel</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de la chambre d’appel</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3"/>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3"/>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4"/>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5"/>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6"/>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marL="101598" indent="0">
              <a:buNone/>
            </a:pPr>
            <a:r>
              <a:rPr lang="fr-FR" b="1" dirty="0"/>
              <a:t>Délai d’actualisation du site:</a:t>
            </a:r>
          </a:p>
          <a:p>
            <a:r>
              <a:rPr lang="fr-FR" sz="1400" dirty="0"/>
              <a:t>Ce temps correspond à l’intervalle d’attente entre 2 cycles de génération/diffusion. Un délai trop important entrainera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il soit supérieur au plus grand de génération/actualisation constaté (</a:t>
            </a:r>
            <a:r>
              <a:rPr lang="fr-FR" sz="1400" i="1" dirty="0"/>
              <a:t>cf.</a:t>
            </a:r>
            <a:r>
              <a:rPr lang="fr-FR" sz="1400" dirty="0"/>
              <a:t> page de statistiques), il ne soit pas trop important par rapport à la vitesse de déroulement de la compétition. Typiquement entre 30 sec. et 2 min. sont des valeurs habituelles.</a:t>
            </a:r>
          </a:p>
          <a:p>
            <a:pPr marL="101598" indent="0">
              <a:buNone/>
            </a:pPr>
            <a:r>
              <a:rPr lang="fr-FR" b="1" dirty="0"/>
              <a:t>Délai d’actualisation client:</a:t>
            </a:r>
          </a:p>
          <a:p>
            <a:r>
              <a:rPr lang="fr-FR" sz="1400" dirty="0"/>
              <a:t>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marL="101598" indent="0">
              <a:buNone/>
            </a:pPr>
            <a:r>
              <a:rPr lang="fr-FR" b="1" dirty="0"/>
              <a:t>Délai de déroulement</a:t>
            </a:r>
          </a:p>
          <a:p>
            <a:r>
              <a:rPr lang="fr-FR" sz="1400" dirty="0"/>
              <a:t>Ce temps correspondant au temps durant lequel une page d’un écran d’appel reste affichée avant de passer à la suivante. Le temps doit être suffisant pour permettre de lire les informations. La page de l’écran d’appel ne se rafraichit avec les dernières données qu’un fois que toutes les pages de combats et de tapis aient été affichées.</a:t>
            </a:r>
          </a:p>
          <a:p>
            <a:pPr marL="101598" indent="0">
              <a:buNone/>
            </a:pPr>
            <a:r>
              <a:rPr lang="fr-FR" b="1" dirty="0"/>
              <a:t>Répertoire d’export:</a:t>
            </a:r>
          </a:p>
          <a:p>
            <a:r>
              <a:rPr lang="fr-FR" sz="1400" dirty="0"/>
              <a:t>Il n’est pas recommandé d’utiliser un répertoire « Cloud » (type OneDrive, </a:t>
            </a:r>
            <a:r>
              <a:rPr lang="fr-FR" sz="1400" dirty="0" err="1"/>
              <a:t>pCloud</a:t>
            </a:r>
            <a:r>
              <a:rPr lang="fr-FR" sz="1400" dirty="0"/>
              <a:t>, </a:t>
            </a:r>
            <a:r>
              <a:rPr lang="fr-FR" sz="1400" dirty="0" err="1"/>
              <a:t>DropBox</a:t>
            </a:r>
            <a:r>
              <a:rPr lang="fr-FR" sz="1400" dirty="0"/>
              <a:t>, etc.) en tant que répertoire d’export, des dysfonctionnements peuvent être constatés dans le cas contraire.</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19600002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529D4A42-A763-8E01-6F35-9129B14D9A91}"/>
              </a:ext>
            </a:extLst>
          </p:cNvPr>
          <p:cNvPicPr>
            <a:picLocks noChangeAspect="1"/>
          </p:cNvPicPr>
          <p:nvPr/>
        </p:nvPicPr>
        <p:blipFill>
          <a:blip r:embed="rId2"/>
          <a:stretch>
            <a:fillRect/>
          </a:stretch>
        </p:blipFill>
        <p:spPr>
          <a:xfrm>
            <a:off x="3680351" y="1766928"/>
            <a:ext cx="7917398" cy="446957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10767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691991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73592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B1EC0E86-1DEA-4AD3-5C96-BEF25C2A6662}"/>
              </a:ext>
            </a:extLst>
          </p:cNvPr>
          <p:cNvPicPr>
            <a:picLocks noChangeAspect="1"/>
          </p:cNvPicPr>
          <p:nvPr/>
        </p:nvPicPr>
        <p:blipFill>
          <a:blip r:embed="rId2"/>
          <a:stretch>
            <a:fillRect/>
          </a:stretch>
        </p:blipFill>
        <p:spPr>
          <a:xfrm>
            <a:off x="706029" y="3229494"/>
            <a:ext cx="10792982" cy="132617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flipH="1">
            <a:off x="5915604" y="2025256"/>
            <a:ext cx="2573977"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11" name="Rectangle 10">
            <a:extLst>
              <a:ext uri="{FF2B5EF4-FFF2-40B4-BE49-F238E27FC236}">
                <a16:creationId xmlns:a16="http://schemas.microsoft.com/office/drawing/2014/main" id="{EB46C865-4478-1651-685C-687B0E5F8826}"/>
              </a:ext>
            </a:extLst>
          </p:cNvPr>
          <p:cNvSpPr/>
          <p:nvPr/>
        </p:nvSpPr>
        <p:spPr>
          <a:xfrm>
            <a:off x="10715836"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27739"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9052078" y="2391386"/>
            <a:ext cx="1431772" cy="528400"/>
          </a:xfrm>
          <a:prstGeom prst="accentBorderCallout1">
            <a:avLst>
              <a:gd name="adj1" fmla="val 18750"/>
              <a:gd name="adj2" fmla="val -8333"/>
              <a:gd name="adj3" fmla="val 169844"/>
              <a:gd name="adj4" fmla="val -283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052078" y="1761369"/>
            <a:ext cx="1626897" cy="294277"/>
          </a:xfrm>
          <a:prstGeom prst="accentBorderCallout1">
            <a:avLst>
              <a:gd name="adj1" fmla="val 73127"/>
              <a:gd name="adj2" fmla="val -5135"/>
              <a:gd name="adj3" fmla="val 497356"/>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Tree>
    <p:extLst>
      <p:ext uri="{BB962C8B-B14F-4D97-AF65-F5344CB8AC3E}">
        <p14:creationId xmlns:p14="http://schemas.microsoft.com/office/powerpoint/2010/main" val="1076767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9BD9996D-6346-8651-5495-DF81C701F0E2}"/>
              </a:ext>
            </a:extLst>
          </p:cNvPr>
          <p:cNvPicPr>
            <a:picLocks noChangeAspect="1"/>
          </p:cNvPicPr>
          <p:nvPr/>
        </p:nvPicPr>
        <p:blipFill>
          <a:blip r:embed="rId2"/>
          <a:stretch>
            <a:fillRect/>
          </a:stretch>
        </p:blipFill>
        <p:spPr>
          <a:xfrm>
            <a:off x="4289024" y="2028084"/>
            <a:ext cx="3731995" cy="2890311"/>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495306" y="4638622"/>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249310" y="4638622"/>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1" y="2776023"/>
            <a:ext cx="2246810" cy="13566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861943" y="5456052"/>
            <a:ext cx="2981324" cy="436361"/>
          </a:xfrm>
          <a:prstGeom prst="accentBorderCallout1">
            <a:avLst>
              <a:gd name="adj1" fmla="val 18750"/>
              <a:gd name="adj2" fmla="val -8333"/>
              <a:gd name="adj3" fmla="val -129981"/>
              <a:gd name="adj4" fmla="val -2718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271464" y="5456052"/>
            <a:ext cx="3093099" cy="436362"/>
          </a:xfrm>
          <a:prstGeom prst="accentBorderCallout1">
            <a:avLst>
              <a:gd name="adj1" fmla="val 18750"/>
              <a:gd name="adj2" fmla="val -8333"/>
              <a:gd name="adj3" fmla="val -138143"/>
              <a:gd name="adj4" fmla="val -2381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186324"/>
            <a:ext cx="2042286" cy="528400"/>
          </a:xfrm>
          <a:prstGeom prst="accentBorderCallout1">
            <a:avLst>
              <a:gd name="adj1" fmla="val 18750"/>
              <a:gd name="adj2" fmla="val -8333"/>
              <a:gd name="adj3" fmla="val 112460"/>
              <a:gd name="adj4" fmla="val -709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760578" y="2743908"/>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602478" y="2937259"/>
            <a:ext cx="3374424" cy="283867"/>
          </a:xfrm>
          <a:prstGeom prst="accentBorderCallout1">
            <a:avLst>
              <a:gd name="adj1" fmla="val 18750"/>
              <a:gd name="adj2" fmla="val -8333"/>
              <a:gd name="adj3" fmla="val 6183"/>
              <a:gd name="adj4" fmla="val -1774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1243479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14546F8F-057C-C343-5073-768EBC066B12}"/>
              </a:ext>
            </a:extLst>
          </p:cNvPr>
          <p:cNvPicPr>
            <a:picLocks noChangeAspect="1"/>
          </p:cNvPicPr>
          <p:nvPr/>
        </p:nvPicPr>
        <p:blipFill>
          <a:blip r:embed="rId2"/>
          <a:stretch>
            <a:fillRect/>
          </a:stretch>
        </p:blipFill>
        <p:spPr>
          <a:xfrm>
            <a:off x="4002578" y="2148999"/>
            <a:ext cx="3631710" cy="273256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311273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602386" y="5140611"/>
            <a:ext cx="2890838" cy="436361"/>
          </a:xfrm>
          <a:prstGeom prst="accentBorderCallout1">
            <a:avLst>
              <a:gd name="adj1" fmla="val 18750"/>
              <a:gd name="adj2" fmla="val -8333"/>
              <a:gd name="adj3" fmla="val -65452"/>
              <a:gd name="adj4" fmla="val -2772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3107796"/>
            <a:ext cx="3553585" cy="318133"/>
          </a:xfrm>
          <a:prstGeom prst="accentBorderCallout1">
            <a:avLst>
              <a:gd name="adj1" fmla="val 18750"/>
              <a:gd name="adj2" fmla="val -8333"/>
              <a:gd name="adj3" fmla="val 120749"/>
              <a:gd name="adj4" fmla="val -2565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86979" y="3412584"/>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881772" y="4008237"/>
            <a:ext cx="64272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699933" y="3414972"/>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157285" y="3412584"/>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65632" y="2575786"/>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29545" y="1663219"/>
            <a:ext cx="3093177" cy="283867"/>
          </a:xfrm>
          <a:prstGeom prst="accentBorderCallout1">
            <a:avLst>
              <a:gd name="adj1" fmla="val 18750"/>
              <a:gd name="adj2" fmla="val -8333"/>
              <a:gd name="adj3" fmla="val 320582"/>
              <a:gd name="adj4" fmla="val -9590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61348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084689" y="2818558"/>
            <a:ext cx="2224796" cy="15524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08079" y="2148999"/>
            <a:ext cx="2667954" cy="310492"/>
          </a:xfrm>
          <a:prstGeom prst="accentBorderCallout1">
            <a:avLst>
              <a:gd name="adj1" fmla="val 18750"/>
              <a:gd name="adj2" fmla="val -8333"/>
              <a:gd name="adj3" fmla="val 206507"/>
              <a:gd name="adj4" fmla="val -48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64400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73605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58858" y="4613512"/>
            <a:ext cx="494367"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1885" y="4610113"/>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56410" y="461602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8591" y="5717060"/>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7" y="5717060"/>
            <a:ext cx="3816602" cy="436362"/>
          </a:xfrm>
          <a:prstGeom prst="accentBorderCallout1">
            <a:avLst>
              <a:gd name="adj1" fmla="val 18750"/>
              <a:gd name="adj2" fmla="val -8333"/>
              <a:gd name="adj3" fmla="val -200265"/>
              <a:gd name="adj4" fmla="val -2330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881772" y="4220407"/>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881772" y="4438414"/>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71553" y="3886410"/>
            <a:ext cx="991489" cy="13013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4226719"/>
            <a:ext cx="3141429" cy="294010"/>
          </a:xfrm>
          <a:prstGeom prst="accentBorderCallout1">
            <a:avLst>
              <a:gd name="adj1" fmla="val 18750"/>
              <a:gd name="adj2" fmla="val -8333"/>
              <a:gd name="adj3" fmla="val -78504"/>
              <a:gd name="adj4" fmla="val -214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1102" y="4084805"/>
            <a:ext cx="3550562" cy="436361"/>
          </a:xfrm>
          <a:prstGeom prst="accentBorderCallout1">
            <a:avLst>
              <a:gd name="adj1" fmla="val 18750"/>
              <a:gd name="adj2" fmla="val -8333"/>
              <a:gd name="adj3" fmla="val -14010"/>
              <a:gd name="adj4" fmla="val -81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69" y="4714052"/>
            <a:ext cx="3141431" cy="286471"/>
          </a:xfrm>
          <a:prstGeom prst="accentBorderCallout1">
            <a:avLst>
              <a:gd name="adj1" fmla="val 18750"/>
              <a:gd name="adj2" fmla="val -8333"/>
              <a:gd name="adj3" fmla="val -51417"/>
              <a:gd name="adj4" fmla="val -4925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671460"/>
            <a:ext cx="3550562" cy="228497"/>
          </a:xfrm>
          <a:prstGeom prst="accentBorderCallout1">
            <a:avLst>
              <a:gd name="adj1" fmla="val 18750"/>
              <a:gd name="adj2" fmla="val -8333"/>
              <a:gd name="adj3" fmla="val 55198"/>
              <a:gd name="adj4" fmla="val -7840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4599415" y="371174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a:off x="8411102" y="4704250"/>
            <a:ext cx="3550562" cy="436361"/>
          </a:xfrm>
          <a:prstGeom prst="accentBorderCallout1">
            <a:avLst>
              <a:gd name="adj1" fmla="val 18750"/>
              <a:gd name="adj2" fmla="val -8333"/>
              <a:gd name="adj3" fmla="val -103507"/>
              <a:gd name="adj4" fmla="val -707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
        <p:nvSpPr>
          <p:cNvPr id="15" name="Rectangle 14">
            <a:extLst>
              <a:ext uri="{FF2B5EF4-FFF2-40B4-BE49-F238E27FC236}">
                <a16:creationId xmlns:a16="http://schemas.microsoft.com/office/drawing/2014/main" id="{8CBD5103-C6D2-EEA2-AC3E-90D826D11C05}"/>
              </a:ext>
            </a:extLst>
          </p:cNvPr>
          <p:cNvSpPr/>
          <p:nvPr/>
        </p:nvSpPr>
        <p:spPr>
          <a:xfrm>
            <a:off x="7363231" y="2810974"/>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ABD65DE1-1A88-2F00-870A-C23EE9620DC1}"/>
              </a:ext>
            </a:extLst>
          </p:cNvPr>
          <p:cNvSpPr/>
          <p:nvPr/>
        </p:nvSpPr>
        <p:spPr>
          <a:xfrm>
            <a:off x="8411102" y="2647713"/>
            <a:ext cx="3374424" cy="283867"/>
          </a:xfrm>
          <a:prstGeom prst="accentBorderCallout1">
            <a:avLst>
              <a:gd name="adj1" fmla="val 18750"/>
              <a:gd name="adj2" fmla="val -8333"/>
              <a:gd name="adj3" fmla="val 90069"/>
              <a:gd name="adj4" fmla="val -2480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6523885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11821224-780E-100C-5A9F-C4484A51D2E0}"/>
              </a:ext>
            </a:extLst>
          </p:cNvPr>
          <p:cNvPicPr>
            <a:picLocks noChangeAspect="1"/>
          </p:cNvPicPr>
          <p:nvPr/>
        </p:nvPicPr>
        <p:blipFill>
          <a:blip r:embed="rId2"/>
          <a:stretch>
            <a:fillRect/>
          </a:stretch>
        </p:blipFill>
        <p:spPr>
          <a:xfrm>
            <a:off x="4015886" y="1731456"/>
            <a:ext cx="3734882" cy="342951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2848749"/>
            <a:ext cx="3553585" cy="318133"/>
          </a:xfrm>
          <a:prstGeom prst="accentBorderCallout1">
            <a:avLst>
              <a:gd name="adj1" fmla="val 18750"/>
              <a:gd name="adj2" fmla="val -8333"/>
              <a:gd name="adj3" fmla="val 125240"/>
              <a:gd name="adj4" fmla="val -231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02325" y="3765315"/>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134214" y="224265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95655" y="2308519"/>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14689" y="2476681"/>
            <a:ext cx="2314812" cy="20176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26297" y="2060394"/>
            <a:ext cx="2667954" cy="310492"/>
          </a:xfrm>
          <a:prstGeom prst="accentBorderCallout1">
            <a:avLst>
              <a:gd name="adj1" fmla="val 18750"/>
              <a:gd name="adj2" fmla="val -8333"/>
              <a:gd name="adj3" fmla="val 126766"/>
              <a:gd name="adj4" fmla="val -4910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74029" y="4887794"/>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06723" y="4894145"/>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80727" y="488779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7" y="6012222"/>
            <a:ext cx="4125363"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de la compétition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02325" y="4034497"/>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7623" y="4251226"/>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30814" y="4722976"/>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23739" y="4474044"/>
            <a:ext cx="167553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53150" y="3586691"/>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933724" y="4474004"/>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933724" y="4706651"/>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414128" y="5441969"/>
            <a:ext cx="3550560"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23566"/>
              <a:gd name="adj4" fmla="val -60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30359"/>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414126" y="4972190"/>
            <a:ext cx="3550561" cy="343173"/>
          </a:xfrm>
          <a:prstGeom prst="accentBorderCallout1">
            <a:avLst>
              <a:gd name="adj1" fmla="val 18750"/>
              <a:gd name="adj2" fmla="val -8333"/>
              <a:gd name="adj3" fmla="val -12737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4125" y="3722711"/>
            <a:ext cx="3550562"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414125" y="4326745"/>
            <a:ext cx="3550562" cy="436361"/>
          </a:xfrm>
          <a:prstGeom prst="accentBorderCallout1">
            <a:avLst>
              <a:gd name="adj1" fmla="val 18750"/>
              <a:gd name="adj2" fmla="val -8333"/>
              <a:gd name="adj3" fmla="val -49736"/>
              <a:gd name="adj4" fmla="val -180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85774"/>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309510"/>
            <a:ext cx="3550562" cy="228497"/>
          </a:xfrm>
          <a:prstGeom prst="accentBorderCallout1">
            <a:avLst>
              <a:gd name="adj1" fmla="val 18750"/>
              <a:gd name="adj2" fmla="val -8333"/>
              <a:gd name="adj3" fmla="val 84378"/>
              <a:gd name="adj4" fmla="val -770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618943" y="3423759"/>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39B16C27-E2EB-3457-DFC6-2BE7B6BB888E}"/>
              </a:ext>
            </a:extLst>
          </p:cNvPr>
          <p:cNvSpPr/>
          <p:nvPr/>
        </p:nvSpPr>
        <p:spPr>
          <a:xfrm>
            <a:off x="7478179" y="2469511"/>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485DAB41-D0C3-1559-125A-95D225F35F08}"/>
              </a:ext>
            </a:extLst>
          </p:cNvPr>
          <p:cNvSpPr/>
          <p:nvPr/>
        </p:nvSpPr>
        <p:spPr>
          <a:xfrm>
            <a:off x="8413896" y="2458085"/>
            <a:ext cx="3374424" cy="283867"/>
          </a:xfrm>
          <a:prstGeom prst="accentBorderCallout1">
            <a:avLst>
              <a:gd name="adj1" fmla="val 18750"/>
              <a:gd name="adj2" fmla="val -8333"/>
              <a:gd name="adj3" fmla="val 58751"/>
              <a:gd name="adj4" fmla="val -212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4252407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pré-configurées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2136A9A6-A715-5919-E506-0BC35D580B39}"/>
              </a:ext>
            </a:extLst>
          </p:cNvPr>
          <p:cNvPicPr>
            <a:picLocks noChangeAspect="1"/>
          </p:cNvPicPr>
          <p:nvPr/>
        </p:nvPicPr>
        <p:blipFill>
          <a:blip r:embed="rId2"/>
          <a:stretch>
            <a:fillRect/>
          </a:stretch>
        </p:blipFill>
        <p:spPr>
          <a:xfrm>
            <a:off x="4765693" y="1486994"/>
            <a:ext cx="7013102" cy="446367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DF88C5BE-8A7D-7692-F037-2C25DA6FD90A}"/>
              </a:ext>
            </a:extLst>
          </p:cNvPr>
          <p:cNvSpPr/>
          <p:nvPr/>
        </p:nvSpPr>
        <p:spPr>
          <a:xfrm>
            <a:off x="4848043" y="2277379"/>
            <a:ext cx="3303917" cy="310550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8308304" y="2272514"/>
            <a:ext cx="3316461" cy="310550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10031515" y="3575005"/>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6105311" y="3489406"/>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148774" y="5950668"/>
            <a:ext cx="11928207" cy="336752"/>
          </a:xfrm>
        </p:spPr>
        <p:txBody>
          <a:bodyPr/>
          <a:lstStyle/>
          <a:p>
            <a:pPr marL="101598" indent="0">
              <a:buNone/>
            </a:pPr>
            <a:r>
              <a:rPr lang="fr-FR" sz="1800" b="1" i="1" dirty="0"/>
              <a:t>Notes</a:t>
            </a:r>
            <a:r>
              <a:rPr lang="fr-FR" sz="1800" i="1" dirty="0"/>
              <a:t>: 	- Cet écran n’est accessible que si la génération est arrêtée.</a:t>
            </a:r>
          </a:p>
          <a:p>
            <a:pPr marL="101598" indent="0">
              <a:buNone/>
            </a:pPr>
            <a:r>
              <a:rPr lang="fr-FR" sz="1800" i="1" dirty="0"/>
              <a:t>	- En passant la souris sur l’icone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4802" b="28173" l="28930" r="32190"/>
                    </a14:imgEffect>
                  </a14:imgLayer>
                </a14:imgProps>
              </a:ext>
            </a:extLst>
          </a:blip>
          <a:srcRect l="28522" t="24381" r="67402" b="71406"/>
          <a:stretch>
            <a:fillRect/>
          </a:stretch>
        </p:blipFill>
        <p:spPr>
          <a:xfrm>
            <a:off x="4153003" y="6304339"/>
            <a:ext cx="382220" cy="251403"/>
          </a:xfrm>
          <a:prstGeom prst="rect">
            <a:avLst/>
          </a:prstGeom>
        </p:spPr>
      </p:pic>
    </p:spTree>
    <p:extLst>
      <p:ext uri="{BB962C8B-B14F-4D97-AF65-F5344CB8AC3E}">
        <p14:creationId xmlns:p14="http://schemas.microsoft.com/office/powerpoint/2010/main" val="1533481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17B2F45C-3A26-A22E-7F6C-A6824C67F750}"/>
              </a:ext>
            </a:extLst>
          </p:cNvPr>
          <p:cNvPicPr>
            <a:picLocks noChangeAspect="1"/>
          </p:cNvPicPr>
          <p:nvPr/>
        </p:nvPicPr>
        <p:blipFill>
          <a:blip r:embed="rId2"/>
          <a:srcRect t="7464" r="50962" b="10401"/>
          <a:stretch>
            <a:fillRect/>
          </a:stretch>
        </p:blipFill>
        <p:spPr>
          <a:xfrm>
            <a:off x="4174832" y="2083444"/>
            <a:ext cx="3439110" cy="366622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1564228"/>
            <a:ext cx="3181935" cy="528401"/>
          </a:xfrm>
          <a:prstGeom prst="accentBorderCallout1">
            <a:avLst>
              <a:gd name="adj1" fmla="val 18750"/>
              <a:gd name="adj2" fmla="val -8333"/>
              <a:gd name="adj3" fmla="val 198187"/>
              <a:gd name="adj4" fmla="val -3054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283281" y="2536871"/>
            <a:ext cx="2041318"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1564228"/>
            <a:ext cx="3439110" cy="775123"/>
          </a:xfrm>
          <a:prstGeom prst="accentBorderCallout1">
            <a:avLst>
              <a:gd name="adj1" fmla="val 18750"/>
              <a:gd name="adj2" fmla="val -8333"/>
              <a:gd name="adj3" fmla="val 175390"/>
              <a:gd name="adj4" fmla="val -349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15093" y="2666159"/>
            <a:ext cx="3439110" cy="775123"/>
          </a:xfrm>
          <a:prstGeom prst="accentBorderCallout1">
            <a:avLst>
              <a:gd name="adj1" fmla="val 18750"/>
              <a:gd name="adj2" fmla="val -8333"/>
              <a:gd name="adj3" fmla="val 108127"/>
              <a:gd name="adj4" fmla="val -3488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3768090"/>
            <a:ext cx="3439110" cy="985760"/>
          </a:xfrm>
          <a:prstGeom prst="accentBorderCallout1">
            <a:avLst>
              <a:gd name="adj1" fmla="val 18750"/>
              <a:gd name="adj2" fmla="val -8333"/>
              <a:gd name="adj3" fmla="val 96813"/>
              <a:gd name="adj4" fmla="val -350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284837" y="3764039"/>
            <a:ext cx="18111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287832" y="4036534"/>
            <a:ext cx="2185993" cy="17034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40396" y="3309320"/>
            <a:ext cx="2777980" cy="43184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524625" y="2793549"/>
            <a:ext cx="79375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581226" y="4206875"/>
            <a:ext cx="79375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528101" y="4210133"/>
            <a:ext cx="1948900"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1" y="2213873"/>
            <a:ext cx="3181935" cy="528401"/>
          </a:xfrm>
          <a:prstGeom prst="accentBorderCallout1">
            <a:avLst>
              <a:gd name="adj1" fmla="val 18750"/>
              <a:gd name="adj2" fmla="val -8333"/>
              <a:gd name="adj3" fmla="val 294507"/>
              <a:gd name="adj4" fmla="val -297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42541" y="2863518"/>
            <a:ext cx="3181935" cy="528401"/>
          </a:xfrm>
          <a:prstGeom prst="accentBorderCallout1">
            <a:avLst>
              <a:gd name="adj1" fmla="val 18750"/>
              <a:gd name="adj2" fmla="val -8333"/>
              <a:gd name="adj3" fmla="val 226021"/>
              <a:gd name="adj4" fmla="val -295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142537" y="3513163"/>
            <a:ext cx="3181935" cy="528401"/>
          </a:xfrm>
          <a:prstGeom prst="accentBorderCallout1">
            <a:avLst>
              <a:gd name="adj1" fmla="val 18750"/>
              <a:gd name="adj2" fmla="val -8333"/>
              <a:gd name="adj3" fmla="val 157629"/>
              <a:gd name="adj4" fmla="val -372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sélection de l’affichage des poules en colonnes selon leur taille</a:t>
            </a:r>
          </a:p>
        </p:txBody>
      </p:sp>
      <p:sp>
        <p:nvSpPr>
          <p:cNvPr id="6" name="Légende : encadrée à une bordure 5">
            <a:extLst>
              <a:ext uri="{FF2B5EF4-FFF2-40B4-BE49-F238E27FC236}">
                <a16:creationId xmlns:a16="http://schemas.microsoft.com/office/drawing/2014/main" id="{CF4E40CB-CAC6-A3B2-6014-660B60B5DF33}"/>
              </a:ext>
            </a:extLst>
          </p:cNvPr>
          <p:cNvSpPr/>
          <p:nvPr/>
        </p:nvSpPr>
        <p:spPr>
          <a:xfrm flipH="1">
            <a:off x="142539" y="4162808"/>
            <a:ext cx="3181935" cy="296848"/>
          </a:xfrm>
          <a:prstGeom prst="accentBorderCallout1">
            <a:avLst>
              <a:gd name="adj1" fmla="val 18750"/>
              <a:gd name="adj2" fmla="val -8333"/>
              <a:gd name="adj3" fmla="val 125939"/>
              <a:gd name="adj4" fmla="val -2981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judokas engagés</a:t>
            </a:r>
          </a:p>
        </p:txBody>
      </p:sp>
      <p:sp>
        <p:nvSpPr>
          <p:cNvPr id="9" name="Légende : encadrée à une bordure 8">
            <a:extLst>
              <a:ext uri="{FF2B5EF4-FFF2-40B4-BE49-F238E27FC236}">
                <a16:creationId xmlns:a16="http://schemas.microsoft.com/office/drawing/2014/main" id="{7CDD545B-12AA-1CAB-E75A-FF198BDA8BE0}"/>
              </a:ext>
            </a:extLst>
          </p:cNvPr>
          <p:cNvSpPr/>
          <p:nvPr/>
        </p:nvSpPr>
        <p:spPr>
          <a:xfrm flipH="1">
            <a:off x="142538" y="4580900"/>
            <a:ext cx="3181935" cy="525890"/>
          </a:xfrm>
          <a:prstGeom prst="accentBorderCallout1">
            <a:avLst>
              <a:gd name="adj1" fmla="val 18750"/>
              <a:gd name="adj2" fmla="val -8333"/>
              <a:gd name="adj3" fmla="val 35131"/>
              <a:gd name="adj4" fmla="val -518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tous les judokas engagés, présents &amp; absents</a:t>
            </a:r>
          </a:p>
        </p:txBody>
      </p:sp>
      <p:sp>
        <p:nvSpPr>
          <p:cNvPr id="10" name="Légende : encadrée à une bordure 9">
            <a:extLst>
              <a:ext uri="{FF2B5EF4-FFF2-40B4-BE49-F238E27FC236}">
                <a16:creationId xmlns:a16="http://schemas.microsoft.com/office/drawing/2014/main" id="{54F2B6B4-698A-AC48-7A6C-A64C3048C725}"/>
              </a:ext>
            </a:extLst>
          </p:cNvPr>
          <p:cNvSpPr/>
          <p:nvPr/>
        </p:nvSpPr>
        <p:spPr>
          <a:xfrm flipH="1">
            <a:off x="142537" y="5228034"/>
            <a:ext cx="3181935" cy="528400"/>
          </a:xfrm>
          <a:prstGeom prst="accentBorderCallout1">
            <a:avLst>
              <a:gd name="adj1" fmla="val 18750"/>
              <a:gd name="adj2" fmla="val -8333"/>
              <a:gd name="adj3" fmla="val -49423"/>
              <a:gd name="adj4" fmla="val -5424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les scores dans l’ordre Gagnant/Perdant </a:t>
            </a:r>
            <a:r>
              <a:rPr lang="fr-FR" sz="1100" dirty="0"/>
              <a:t>(sinon 1</a:t>
            </a:r>
            <a:r>
              <a:rPr lang="fr-FR" sz="1100" baseline="30000" dirty="0"/>
              <a:t>er</a:t>
            </a:r>
            <a:r>
              <a:rPr lang="fr-FR" sz="1100" dirty="0"/>
              <a:t> judoka/2</a:t>
            </a:r>
            <a:r>
              <a:rPr lang="fr-FR" sz="1100" baseline="30000" dirty="0"/>
              <a:t>nd</a:t>
            </a:r>
            <a:r>
              <a:rPr lang="fr-FR" sz="1100" dirty="0"/>
              <a:t> judoka)</a:t>
            </a:r>
            <a:endParaRPr lang="fr-FR" sz="1200" dirty="0"/>
          </a:p>
        </p:txBody>
      </p:sp>
      <p:sp>
        <p:nvSpPr>
          <p:cNvPr id="11" name="Rectangle 10">
            <a:extLst>
              <a:ext uri="{FF2B5EF4-FFF2-40B4-BE49-F238E27FC236}">
                <a16:creationId xmlns:a16="http://schemas.microsoft.com/office/drawing/2014/main" id="{CDF31294-C198-8CE2-AB12-43488694254B}"/>
              </a:ext>
            </a:extLst>
          </p:cNvPr>
          <p:cNvSpPr/>
          <p:nvPr/>
        </p:nvSpPr>
        <p:spPr>
          <a:xfrm>
            <a:off x="4283281" y="4437471"/>
            <a:ext cx="1690799"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8D102315-4DB2-9545-B8B1-9CE2979203D3}"/>
              </a:ext>
            </a:extLst>
          </p:cNvPr>
          <p:cNvSpPr/>
          <p:nvPr/>
        </p:nvSpPr>
        <p:spPr>
          <a:xfrm>
            <a:off x="4988183" y="4648523"/>
            <a:ext cx="985898"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9C43EF2-E7EF-E1A4-0E92-AB1F76A9C1C5}"/>
              </a:ext>
            </a:extLst>
          </p:cNvPr>
          <p:cNvSpPr/>
          <p:nvPr/>
        </p:nvSpPr>
        <p:spPr>
          <a:xfrm>
            <a:off x="5091524" y="4847054"/>
            <a:ext cx="985898"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ADF68823-F157-E840-FA36-1790FBE671F5}"/>
              </a:ext>
            </a:extLst>
          </p:cNvPr>
          <p:cNvSpPr/>
          <p:nvPr/>
        </p:nvSpPr>
        <p:spPr>
          <a:xfrm>
            <a:off x="6031675" y="4630124"/>
            <a:ext cx="1286699"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51CA9EDA-565C-2083-03D4-7B4BB7ED0D7E}"/>
              </a:ext>
            </a:extLst>
          </p:cNvPr>
          <p:cNvSpPr/>
          <p:nvPr/>
        </p:nvSpPr>
        <p:spPr>
          <a:xfrm>
            <a:off x="6114580" y="4840325"/>
            <a:ext cx="1286699"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4B91A6D7-AE7C-F54D-490C-741FA9B1E570}"/>
              </a:ext>
            </a:extLst>
          </p:cNvPr>
          <p:cNvSpPr/>
          <p:nvPr/>
        </p:nvSpPr>
        <p:spPr>
          <a:xfrm>
            <a:off x="8515093" y="5080658"/>
            <a:ext cx="3439110" cy="499307"/>
          </a:xfrm>
          <a:prstGeom prst="accentBorderCallout1">
            <a:avLst>
              <a:gd name="adj1" fmla="val 18750"/>
              <a:gd name="adj2" fmla="val -8333"/>
              <a:gd name="adj3" fmla="val -17092"/>
              <a:gd name="adj4" fmla="val -3260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tous les combats des judokas engagés (terminés &amp; à venir)</a:t>
            </a:r>
          </a:p>
        </p:txBody>
      </p:sp>
      <p:sp>
        <p:nvSpPr>
          <p:cNvPr id="29" name="Légende : encadrée à une bordure 28">
            <a:extLst>
              <a:ext uri="{FF2B5EF4-FFF2-40B4-BE49-F238E27FC236}">
                <a16:creationId xmlns:a16="http://schemas.microsoft.com/office/drawing/2014/main" id="{135D9130-B207-077A-1B7A-977EB10AE25A}"/>
              </a:ext>
            </a:extLst>
          </p:cNvPr>
          <p:cNvSpPr/>
          <p:nvPr/>
        </p:nvSpPr>
        <p:spPr>
          <a:xfrm>
            <a:off x="8515093" y="5906771"/>
            <a:ext cx="3439110" cy="499307"/>
          </a:xfrm>
          <a:prstGeom prst="accentBorderCallout1">
            <a:avLst>
              <a:gd name="adj1" fmla="val 18750"/>
              <a:gd name="adj2" fmla="val -8333"/>
              <a:gd name="adj3" fmla="val -55245"/>
              <a:gd name="adj4" fmla="val -4013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Intitulé à afficher à la place du nom de la 1</a:t>
            </a:r>
            <a:r>
              <a:rPr lang="fr-FR" sz="1400" baseline="30000" dirty="0"/>
              <a:t>ère</a:t>
            </a:r>
            <a:r>
              <a:rPr lang="fr-FR" sz="1400" dirty="0"/>
              <a:t> compétition en cas de multi-compétition</a:t>
            </a:r>
          </a:p>
        </p:txBody>
      </p:sp>
      <p:sp>
        <p:nvSpPr>
          <p:cNvPr id="30" name="Légende : encadrée à une bordure 29">
            <a:extLst>
              <a:ext uri="{FF2B5EF4-FFF2-40B4-BE49-F238E27FC236}">
                <a16:creationId xmlns:a16="http://schemas.microsoft.com/office/drawing/2014/main" id="{35346889-8539-0EEF-4F3B-2932F29FD655}"/>
              </a:ext>
            </a:extLst>
          </p:cNvPr>
          <p:cNvSpPr/>
          <p:nvPr/>
        </p:nvSpPr>
        <p:spPr>
          <a:xfrm flipH="1">
            <a:off x="142537" y="5877678"/>
            <a:ext cx="3181935" cy="528400"/>
          </a:xfrm>
          <a:prstGeom prst="accentBorderCallout1">
            <a:avLst>
              <a:gd name="adj1" fmla="val 18750"/>
              <a:gd name="adj2" fmla="val -8333"/>
              <a:gd name="adj3" fmla="val -117201"/>
              <a:gd name="adj4" fmla="val -293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 multi-compétition, utilise un titre spécifique </a:t>
            </a:r>
            <a:r>
              <a:rPr lang="fr-FR" sz="1050" dirty="0"/>
              <a:t>(sinon nom de la 1</a:t>
            </a:r>
            <a:r>
              <a:rPr lang="fr-FR" sz="1050" baseline="30000" dirty="0"/>
              <a:t>ère</a:t>
            </a:r>
            <a:r>
              <a:rPr lang="fr-FR" sz="1050" dirty="0"/>
              <a:t> compétition)</a:t>
            </a:r>
            <a:endParaRPr lang="fr-FR" sz="1200" dirty="0"/>
          </a:p>
        </p:txBody>
      </p:sp>
      <p:sp>
        <p:nvSpPr>
          <p:cNvPr id="31" name="Rectangle 30">
            <a:extLst>
              <a:ext uri="{FF2B5EF4-FFF2-40B4-BE49-F238E27FC236}">
                <a16:creationId xmlns:a16="http://schemas.microsoft.com/office/drawing/2014/main" id="{AF45D409-A4E4-B8AA-7BC8-545141C10488}"/>
              </a:ext>
            </a:extLst>
          </p:cNvPr>
          <p:cNvSpPr/>
          <p:nvPr/>
        </p:nvSpPr>
        <p:spPr>
          <a:xfrm>
            <a:off x="4283280" y="5131777"/>
            <a:ext cx="1942259"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E8B4E578-619C-1377-C9AF-305416A90341}"/>
              </a:ext>
            </a:extLst>
          </p:cNvPr>
          <p:cNvSpPr/>
          <p:nvPr/>
        </p:nvSpPr>
        <p:spPr>
          <a:xfrm>
            <a:off x="4571253" y="5402232"/>
            <a:ext cx="2629647"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025131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E311564A-38E8-B9FC-A183-CBED7A9D1CA6}"/>
              </a:ext>
            </a:extLst>
          </p:cNvPr>
          <p:cNvPicPr>
            <a:picLocks noChangeAspect="1"/>
          </p:cNvPicPr>
          <p:nvPr/>
        </p:nvPicPr>
        <p:blipFill>
          <a:blip r:embed="rId2"/>
          <a:srcRect l="50462" t="6981" r="1052" b="10052"/>
          <a:stretch>
            <a:fillRect/>
          </a:stretch>
        </p:blipFill>
        <p:spPr>
          <a:xfrm>
            <a:off x="4174153" y="1770246"/>
            <a:ext cx="3400384" cy="3703359"/>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05067" y="3429000"/>
            <a:ext cx="3181935" cy="528401"/>
          </a:xfrm>
          <a:prstGeom prst="accentBorderCallout1">
            <a:avLst>
              <a:gd name="adj1" fmla="val 18750"/>
              <a:gd name="adj2" fmla="val -8333"/>
              <a:gd name="adj3" fmla="val 73488"/>
              <a:gd name="adj4" fmla="val -240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292312" y="3736542"/>
            <a:ext cx="1159562"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4292312" y="4628567"/>
            <a:ext cx="907473" cy="31312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141229"/>
              <a:gd name="adj4" fmla="val -311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45659" y="4379729"/>
            <a:ext cx="3257372" cy="18918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05067" y="4383248"/>
            <a:ext cx="3181937" cy="283867"/>
          </a:xfrm>
          <a:prstGeom prst="accentBorderCallout1">
            <a:avLst>
              <a:gd name="adj1" fmla="val 18750"/>
              <a:gd name="adj2" fmla="val -8333"/>
              <a:gd name="adj3" fmla="val 24695"/>
              <a:gd name="adj4" fmla="val -2349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26364"/>
              <a:gd name="adj4" fmla="val -3851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6020773" y="2313992"/>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25992"/>
              <a:gd name="adj4" fmla="val -3816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6020773" y="2679601"/>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flipH="1">
            <a:off x="305067" y="4900632"/>
            <a:ext cx="3181935" cy="483119"/>
          </a:xfrm>
          <a:prstGeom prst="accentBorderCallout1">
            <a:avLst>
              <a:gd name="adj1" fmla="val 18750"/>
              <a:gd name="adj2" fmla="val -8333"/>
              <a:gd name="adj3" fmla="val -2783"/>
              <a:gd name="adj4" fmla="val -251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5982673" y="2983123"/>
            <a:ext cx="1137265" cy="112366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95017283-CD23-6073-13F5-3183B7E8A9FE}"/>
              </a:ext>
            </a:extLst>
          </p:cNvPr>
          <p:cNvSpPr/>
          <p:nvPr/>
        </p:nvSpPr>
        <p:spPr>
          <a:xfrm>
            <a:off x="5488152" y="3727073"/>
            <a:ext cx="23224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35BE13C-247E-B746-8D5B-2BD4553393E3}"/>
              </a:ext>
            </a:extLst>
          </p:cNvPr>
          <p:cNvSpPr/>
          <p:nvPr/>
        </p:nvSpPr>
        <p:spPr>
          <a:xfrm flipH="1">
            <a:off x="305068" y="2488948"/>
            <a:ext cx="3181935" cy="528401"/>
          </a:xfrm>
          <a:prstGeom prst="accentBorderCallout1">
            <a:avLst>
              <a:gd name="adj1" fmla="val 18750"/>
              <a:gd name="adj2" fmla="val -8333"/>
              <a:gd name="adj3" fmla="val 235925"/>
              <a:gd name="adj4" fmla="val -664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logo dans la liste</a:t>
            </a:r>
          </a:p>
        </p:txBody>
      </p:sp>
      <p:sp>
        <p:nvSpPr>
          <p:cNvPr id="25" name="Espace réservé du texte 2">
            <a:extLst>
              <a:ext uri="{FF2B5EF4-FFF2-40B4-BE49-F238E27FC236}">
                <a16:creationId xmlns:a16="http://schemas.microsoft.com/office/drawing/2014/main" id="{D564C843-8267-7C67-D6D5-FAF034B79965}"/>
              </a:ext>
            </a:extLst>
          </p:cNvPr>
          <p:cNvSpPr>
            <a:spLocks noGrp="1"/>
          </p:cNvSpPr>
          <p:nvPr>
            <p:ph type="body" idx="1"/>
          </p:nvPr>
        </p:nvSpPr>
        <p:spPr>
          <a:xfrm>
            <a:off x="411192" y="5689825"/>
            <a:ext cx="11369615" cy="782889"/>
          </a:xfrm>
        </p:spPr>
        <p:txBody>
          <a:bodyPr>
            <a:normAutofit fontScale="85000" lnSpcReduction="10000"/>
          </a:bodyPr>
          <a:lstStyle/>
          <a:p>
            <a:pPr marL="101598" indent="0">
              <a:buNone/>
            </a:pPr>
            <a:r>
              <a:rPr lang="fr-FR" sz="1800" b="1" i="1" dirty="0"/>
              <a:t>Notes</a:t>
            </a:r>
            <a:r>
              <a:rPr lang="fr-FR" sz="1800" i="1" dirty="0"/>
              <a:t>:</a:t>
            </a:r>
          </a:p>
          <a:p>
            <a:r>
              <a:rPr lang="fr-FR" sz="1800" i="1" dirty="0"/>
              <a:t>Pour ajouter un logo, ce dernier doit être au format png, avoir une taille maximum de 200x200 et contenir le mot « logo » dans son nom.</a:t>
            </a:r>
          </a:p>
          <a:p>
            <a:r>
              <a:rPr lang="fr-FR" sz="1800" i="1" dirty="0"/>
              <a:t>Le répertoire de travail ne doit pas être un répertoire synchronisé type OneDrive, </a:t>
            </a:r>
            <a:r>
              <a:rPr lang="fr-FR" sz="1800" i="1" dirty="0" err="1"/>
              <a:t>pCloud</a:t>
            </a:r>
            <a:r>
              <a:rPr lang="fr-FR" sz="1800" i="1" dirty="0"/>
              <a:t>, </a:t>
            </a:r>
            <a:r>
              <a:rPr lang="fr-FR" sz="1800" i="1" dirty="0" err="1"/>
              <a:t>DropBox</a:t>
            </a:r>
            <a:r>
              <a:rPr lang="fr-FR" sz="1800" i="1" dirty="0"/>
              <a:t>, etc.</a:t>
            </a:r>
          </a:p>
        </p:txBody>
      </p:sp>
      <p:sp>
        <p:nvSpPr>
          <p:cNvPr id="9" name="Légende : encadrée à une bordure 8">
            <a:extLst>
              <a:ext uri="{FF2B5EF4-FFF2-40B4-BE49-F238E27FC236}">
                <a16:creationId xmlns:a16="http://schemas.microsoft.com/office/drawing/2014/main" id="{1310838A-310D-16B8-8DDF-AB323F7F6B5A}"/>
              </a:ext>
            </a:extLst>
          </p:cNvPr>
          <p:cNvSpPr/>
          <p:nvPr/>
        </p:nvSpPr>
        <p:spPr>
          <a:xfrm>
            <a:off x="8143436" y="4577267"/>
            <a:ext cx="2974144" cy="657673"/>
          </a:xfrm>
          <a:prstGeom prst="accentBorderCallout1">
            <a:avLst>
              <a:gd name="adj1" fmla="val 18750"/>
              <a:gd name="adj2" fmla="val -8333"/>
              <a:gd name="adj3" fmla="val 45251"/>
              <a:gd name="adj4" fmla="val -226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Force le répertoire de travail à être effacé au démarrage de la 1</a:t>
            </a:r>
            <a:r>
              <a:rPr lang="fr-FR" sz="1400" baseline="30000" dirty="0"/>
              <a:t>ère</a:t>
            </a:r>
            <a:r>
              <a:rPr lang="fr-FR" sz="1400" dirty="0"/>
              <a:t> génération</a:t>
            </a:r>
          </a:p>
        </p:txBody>
      </p:sp>
      <p:sp>
        <p:nvSpPr>
          <p:cNvPr id="11" name="Rectangle 10">
            <a:extLst>
              <a:ext uri="{FF2B5EF4-FFF2-40B4-BE49-F238E27FC236}">
                <a16:creationId xmlns:a16="http://schemas.microsoft.com/office/drawing/2014/main" id="{CDD969C9-C5AD-3E33-5D81-3B62D97C8254}"/>
              </a:ext>
            </a:extLst>
          </p:cNvPr>
          <p:cNvSpPr/>
          <p:nvPr/>
        </p:nvSpPr>
        <p:spPr>
          <a:xfrm>
            <a:off x="5808574" y="4620868"/>
            <a:ext cx="1694457" cy="22098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467429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8" name="Image 7">
            <a:extLst>
              <a:ext uri="{FF2B5EF4-FFF2-40B4-BE49-F238E27FC236}">
                <a16:creationId xmlns:a16="http://schemas.microsoft.com/office/drawing/2014/main" id="{E3FC3E6C-3878-EE79-50A9-315B90138293}"/>
              </a:ext>
            </a:extLst>
          </p:cNvPr>
          <p:cNvPicPr>
            <a:picLocks noChangeAspect="1"/>
          </p:cNvPicPr>
          <p:nvPr/>
        </p:nvPicPr>
        <p:blipFill>
          <a:blip r:embed="rId2"/>
          <a:stretch>
            <a:fillRect/>
          </a:stretch>
        </p:blipFill>
        <p:spPr>
          <a:xfrm>
            <a:off x="3985193" y="1913235"/>
            <a:ext cx="6591962" cy="396444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45917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59839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
        <p:nvSpPr>
          <p:cNvPr id="14" name="Rectangle 13">
            <a:extLst>
              <a:ext uri="{FF2B5EF4-FFF2-40B4-BE49-F238E27FC236}">
                <a16:creationId xmlns:a16="http://schemas.microsoft.com/office/drawing/2014/main" id="{82BB2F06-B806-94DE-0650-E503AA275CE2}"/>
              </a:ext>
            </a:extLst>
          </p:cNvPr>
          <p:cNvSpPr/>
          <p:nvPr/>
        </p:nvSpPr>
        <p:spPr>
          <a:xfrm>
            <a:off x="5451475" y="2140944"/>
            <a:ext cx="418382"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45534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6" name="Rectangle 15">
            <a:extLst>
              <a:ext uri="{FF2B5EF4-FFF2-40B4-BE49-F238E27FC236}">
                <a16:creationId xmlns:a16="http://schemas.microsoft.com/office/drawing/2014/main" id="{53A72B99-EC85-427C-2E6A-F5D19EED64EB}"/>
              </a:ext>
            </a:extLst>
          </p:cNvPr>
          <p:cNvSpPr/>
          <p:nvPr/>
        </p:nvSpPr>
        <p:spPr>
          <a:xfrm>
            <a:off x="6384925" y="1939629"/>
            <a:ext cx="1793875" cy="201315"/>
          </a:xfrm>
          <a:prstGeom prst="rect">
            <a:avLst/>
          </a:prstGeom>
          <a:solidFill>
            <a:srgbClr val="494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D43A3E9D-E9D8-AD3A-C699-30F633EE9284}"/>
              </a:ext>
            </a:extLst>
          </p:cNvPr>
          <p:cNvSpPr/>
          <p:nvPr/>
        </p:nvSpPr>
        <p:spPr>
          <a:xfrm>
            <a:off x="4330700"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33203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308026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53847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213636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FFBE9FB1-84B2-1E3A-E71F-668D1427F18F}"/>
              </a:ext>
            </a:extLst>
          </p:cNvPr>
          <p:cNvPicPr>
            <a:picLocks noChangeAspect="1"/>
          </p:cNvPicPr>
          <p:nvPr/>
        </p:nvPicPr>
        <p:blipFill>
          <a:blip r:embed="rId2"/>
          <a:stretch>
            <a:fillRect/>
          </a:stretch>
        </p:blipFill>
        <p:spPr>
          <a:xfrm>
            <a:off x="5325095" y="1361305"/>
            <a:ext cx="5944430" cy="3667637"/>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5721546"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486650" y="4294147"/>
            <a:ext cx="1295400" cy="45500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879284" y="4430572"/>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19864"/>
              <a:gd name="adj4" fmla="val -1191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5443320" y="5228534"/>
            <a:ext cx="4086659" cy="399263"/>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77817" y="5627797"/>
            <a:ext cx="11369615" cy="1019303"/>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Cet écran peut rester ouvert en même temps que l’écran principal sans gêner le fonctionnement mais il reste au 1</a:t>
            </a:r>
            <a:r>
              <a:rPr lang="fr-FR" sz="1800" i="1" baseline="30000" dirty="0"/>
              <a:t>er</a:t>
            </a:r>
            <a:r>
              <a:rPr lang="fr-FR" sz="1800" i="1" dirty="0"/>
              <a:t> plan. Attention, l’activation des traces détaillées peut générer des fichiers de taille importante et engendrer un permet de performance.</a:t>
            </a:r>
          </a:p>
        </p:txBody>
      </p:sp>
    </p:spTree>
    <p:extLst>
      <p:ext uri="{BB962C8B-B14F-4D97-AF65-F5344CB8AC3E}">
        <p14:creationId xmlns:p14="http://schemas.microsoft.com/office/powerpoint/2010/main" val="2377222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672245147"/>
              </p:ext>
            </p:extLst>
          </p:nvPr>
        </p:nvGraphicFramePr>
        <p:xfrm>
          <a:off x="361038" y="1727064"/>
          <a:ext cx="11079569" cy="4177086"/>
        </p:xfrm>
        <a:graphic>
          <a:graphicData uri="http://schemas.openxmlformats.org/drawingml/2006/table">
            <a:tbl>
              <a:tblPr>
                <a:tableStyleId>{7DF18680-E054-41AD-8BC1-D1AEF772440D}</a:tableStyleId>
              </a:tblPr>
              <a:tblGrid>
                <a:gridCol w="433022">
                  <a:extLst>
                    <a:ext uri="{9D8B030D-6E8A-4147-A177-3AD203B41FA5}">
                      <a16:colId xmlns:a16="http://schemas.microsoft.com/office/drawing/2014/main" val="3736857135"/>
                    </a:ext>
                  </a:extLst>
                </a:gridCol>
                <a:gridCol w="819480">
                  <a:extLst>
                    <a:ext uri="{9D8B030D-6E8A-4147-A177-3AD203B41FA5}">
                      <a16:colId xmlns:a16="http://schemas.microsoft.com/office/drawing/2014/main" val="3696878891"/>
                    </a:ext>
                  </a:extLst>
                </a:gridCol>
                <a:gridCol w="819480">
                  <a:extLst>
                    <a:ext uri="{9D8B030D-6E8A-4147-A177-3AD203B41FA5}">
                      <a16:colId xmlns:a16="http://schemas.microsoft.com/office/drawing/2014/main" val="2257898591"/>
                    </a:ext>
                  </a:extLst>
                </a:gridCol>
                <a:gridCol w="819480">
                  <a:extLst>
                    <a:ext uri="{9D8B030D-6E8A-4147-A177-3AD203B41FA5}">
                      <a16:colId xmlns:a16="http://schemas.microsoft.com/office/drawing/2014/main" val="2384296798"/>
                    </a:ext>
                  </a:extLst>
                </a:gridCol>
                <a:gridCol w="819480">
                  <a:extLst>
                    <a:ext uri="{9D8B030D-6E8A-4147-A177-3AD203B41FA5}">
                      <a16:colId xmlns:a16="http://schemas.microsoft.com/office/drawing/2014/main" val="618733032"/>
                    </a:ext>
                  </a:extLst>
                </a:gridCol>
                <a:gridCol w="819480">
                  <a:extLst>
                    <a:ext uri="{9D8B030D-6E8A-4147-A177-3AD203B41FA5}">
                      <a16:colId xmlns:a16="http://schemas.microsoft.com/office/drawing/2014/main" val="3964921429"/>
                    </a:ext>
                  </a:extLst>
                </a:gridCol>
                <a:gridCol w="819480">
                  <a:extLst>
                    <a:ext uri="{9D8B030D-6E8A-4147-A177-3AD203B41FA5}">
                      <a16:colId xmlns:a16="http://schemas.microsoft.com/office/drawing/2014/main" val="2528599786"/>
                    </a:ext>
                  </a:extLst>
                </a:gridCol>
                <a:gridCol w="819480">
                  <a:extLst>
                    <a:ext uri="{9D8B030D-6E8A-4147-A177-3AD203B41FA5}">
                      <a16:colId xmlns:a16="http://schemas.microsoft.com/office/drawing/2014/main" val="2631112101"/>
                    </a:ext>
                  </a:extLst>
                </a:gridCol>
                <a:gridCol w="819480">
                  <a:extLst>
                    <a:ext uri="{9D8B030D-6E8A-4147-A177-3AD203B41FA5}">
                      <a16:colId xmlns:a16="http://schemas.microsoft.com/office/drawing/2014/main" val="1640724778"/>
                    </a:ext>
                  </a:extLst>
                </a:gridCol>
                <a:gridCol w="819480">
                  <a:extLst>
                    <a:ext uri="{9D8B030D-6E8A-4147-A177-3AD203B41FA5}">
                      <a16:colId xmlns:a16="http://schemas.microsoft.com/office/drawing/2014/main" val="2824390373"/>
                    </a:ext>
                  </a:extLst>
                </a:gridCol>
                <a:gridCol w="819480">
                  <a:extLst>
                    <a:ext uri="{9D8B030D-6E8A-4147-A177-3AD203B41FA5}">
                      <a16:colId xmlns:a16="http://schemas.microsoft.com/office/drawing/2014/main" val="3229000006"/>
                    </a:ext>
                  </a:extLst>
                </a:gridCol>
                <a:gridCol w="819480">
                  <a:extLst>
                    <a:ext uri="{9D8B030D-6E8A-4147-A177-3AD203B41FA5}">
                      <a16:colId xmlns:a16="http://schemas.microsoft.com/office/drawing/2014/main" val="788621322"/>
                    </a:ext>
                  </a:extLst>
                </a:gridCol>
                <a:gridCol w="794068">
                  <a:extLst>
                    <a:ext uri="{9D8B030D-6E8A-4147-A177-3AD203B41FA5}">
                      <a16:colId xmlns:a16="http://schemas.microsoft.com/office/drawing/2014/main" val="2162805490"/>
                    </a:ext>
                  </a:extLst>
                </a:gridCol>
                <a:gridCol w="838199">
                  <a:extLst>
                    <a:ext uri="{9D8B030D-6E8A-4147-A177-3AD203B41FA5}">
                      <a16:colId xmlns:a16="http://schemas.microsoft.com/office/drawing/2014/main" val="1839021779"/>
                    </a:ext>
                  </a:extLst>
                </a:gridCol>
              </a:tblGrid>
              <a:tr h="489006">
                <a:tc>
                  <a:txBody>
                    <a:bodyPr/>
                    <a:lstStyle/>
                    <a:p>
                      <a:endParaRPr lang="fr-FR" sz="1600" dirty="0"/>
                    </a:p>
                  </a:txBody>
                  <a:tcPr anchor="ctr"/>
                </a:tc>
                <a:tc>
                  <a:txBody>
                    <a:bodyPr/>
                    <a:lstStyle/>
                    <a:p>
                      <a:endParaRPr lang="fr-FR" sz="1600" dirty="0"/>
                    </a:p>
                  </a:txBody>
                  <a:tcPr anchor="ctr"/>
                </a:tc>
                <a:tc gridSpan="12">
                  <a:txBody>
                    <a:bodyPr/>
                    <a:lstStyle/>
                    <a:p>
                      <a:pPr algn="ctr"/>
                      <a:r>
                        <a:rPr lang="fr-FR" sz="1600" dirty="0" err="1">
                          <a:solidFill>
                            <a:schemeClr val="bg1"/>
                          </a:solidFill>
                        </a:rPr>
                        <a:t>PublicationSuiviCompetition</a:t>
                      </a:r>
                      <a:endParaRPr lang="fr-FR" sz="1600"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600" dirty="0"/>
                    </a:p>
                  </a:txBody>
                  <a:tcPr anchor="ctr"/>
                </a:tc>
                <a:tc>
                  <a:txBody>
                    <a:bodyPr/>
                    <a:lstStyle/>
                    <a:p>
                      <a:endParaRPr lang="fr-FR" sz="1600" dirty="0"/>
                    </a:p>
                  </a:txBody>
                  <a:tcPr anchor="ctr"/>
                </a:tc>
                <a:tc>
                  <a:txBody>
                    <a:bodyPr/>
                    <a:lstStyle/>
                    <a:p>
                      <a:r>
                        <a:rPr lang="fr-FR" sz="1200" b="1" dirty="0">
                          <a:solidFill>
                            <a:schemeClr val="bg1"/>
                          </a:solidFill>
                        </a:rPr>
                        <a:t>1.0.0.0</a:t>
                      </a:r>
                    </a:p>
                  </a:txBody>
                  <a:tcPr anchor="ctr">
                    <a:solidFill>
                      <a:schemeClr val="accent1"/>
                    </a:solidFill>
                  </a:tcPr>
                </a:tc>
                <a:tc>
                  <a:txBody>
                    <a:bodyPr/>
                    <a:lstStyle/>
                    <a:p>
                      <a:r>
                        <a:rPr lang="fr-FR" sz="1200" b="1" dirty="0">
                          <a:solidFill>
                            <a:schemeClr val="bg1"/>
                          </a:solidFill>
                        </a:rPr>
                        <a:t>1.1.0.0</a:t>
                      </a:r>
                    </a:p>
                  </a:txBody>
                  <a:tcPr anchor="ctr">
                    <a:solidFill>
                      <a:schemeClr val="accent1"/>
                    </a:solidFill>
                  </a:tcPr>
                </a:tc>
                <a:tc>
                  <a:txBody>
                    <a:bodyPr/>
                    <a:lstStyle/>
                    <a:p>
                      <a:r>
                        <a:rPr lang="fr-FR" sz="1200" b="1" dirty="0">
                          <a:solidFill>
                            <a:schemeClr val="bg1"/>
                          </a:solidFill>
                        </a:rPr>
                        <a:t>1.1.1.0</a:t>
                      </a:r>
                    </a:p>
                  </a:txBody>
                  <a:tcPr anchor="ctr">
                    <a:solidFill>
                      <a:schemeClr val="accent1"/>
                    </a:solidFill>
                  </a:tcPr>
                </a:tc>
                <a:tc>
                  <a:txBody>
                    <a:bodyPr/>
                    <a:lstStyle/>
                    <a:p>
                      <a:r>
                        <a:rPr lang="fr-FR" sz="1200" b="1" dirty="0">
                          <a:solidFill>
                            <a:schemeClr val="bg1"/>
                          </a:solidFill>
                        </a:rPr>
                        <a:t>1.1.1.1</a:t>
                      </a:r>
                    </a:p>
                  </a:txBody>
                  <a:tcPr anchor="ctr">
                    <a:solidFill>
                      <a:schemeClr val="accent1"/>
                    </a:solidFill>
                  </a:tcPr>
                </a:tc>
                <a:tc>
                  <a:txBody>
                    <a:bodyPr/>
                    <a:lstStyle/>
                    <a:p>
                      <a:r>
                        <a:rPr lang="fr-FR" sz="1200" b="1" dirty="0">
                          <a:solidFill>
                            <a:schemeClr val="bg1"/>
                          </a:solidFill>
                        </a:rPr>
                        <a:t>1.1.1.2</a:t>
                      </a:r>
                    </a:p>
                  </a:txBody>
                  <a:tcPr anchor="ctr">
                    <a:solidFill>
                      <a:schemeClr val="accent1"/>
                    </a:solidFill>
                  </a:tcPr>
                </a:tc>
                <a:tc>
                  <a:txBody>
                    <a:bodyPr/>
                    <a:lstStyle/>
                    <a:p>
                      <a:r>
                        <a:rPr lang="fr-FR" sz="1200" b="1" dirty="0">
                          <a:solidFill>
                            <a:schemeClr val="bg1"/>
                          </a:solidFill>
                        </a:rPr>
                        <a:t>1.1.1.3</a:t>
                      </a:r>
                    </a:p>
                  </a:txBody>
                  <a:tcPr anchor="ctr">
                    <a:solidFill>
                      <a:schemeClr val="accent1"/>
                    </a:solidFill>
                  </a:tcPr>
                </a:tc>
                <a:tc>
                  <a:txBody>
                    <a:bodyPr/>
                    <a:lstStyle/>
                    <a:p>
                      <a:r>
                        <a:rPr lang="fr-FR" sz="1200" b="1" dirty="0">
                          <a:solidFill>
                            <a:schemeClr val="bg1"/>
                          </a:solidFill>
                        </a:rPr>
                        <a:t>1.2.0.0</a:t>
                      </a:r>
                    </a:p>
                  </a:txBody>
                  <a:tcPr anchor="ctr">
                    <a:solidFill>
                      <a:schemeClr val="accent1"/>
                    </a:solidFill>
                  </a:tcPr>
                </a:tc>
                <a:tc>
                  <a:txBody>
                    <a:bodyPr/>
                    <a:lstStyle/>
                    <a:p>
                      <a:r>
                        <a:rPr lang="fr-FR" sz="1200" b="1" dirty="0">
                          <a:solidFill>
                            <a:schemeClr val="bg1"/>
                          </a:solidFill>
                        </a:rPr>
                        <a:t>1.2.1.0</a:t>
                      </a:r>
                    </a:p>
                  </a:txBody>
                  <a:tcPr anchor="ctr">
                    <a:solidFill>
                      <a:schemeClr val="accent1"/>
                    </a:solidFill>
                  </a:tcPr>
                </a:tc>
                <a:tc>
                  <a:txBody>
                    <a:bodyPr/>
                    <a:lstStyle/>
                    <a:p>
                      <a:r>
                        <a:rPr lang="fr-FR" sz="1200" b="1" dirty="0">
                          <a:solidFill>
                            <a:schemeClr val="bg1"/>
                          </a:solidFill>
                        </a:rPr>
                        <a:t>1.3.0.0</a:t>
                      </a:r>
                    </a:p>
                  </a:txBody>
                  <a:tcPr anchor="ctr">
                    <a:solidFill>
                      <a:schemeClr val="accent1"/>
                    </a:solidFill>
                  </a:tcPr>
                </a:tc>
                <a:tc>
                  <a:txBody>
                    <a:bodyPr/>
                    <a:lstStyle/>
                    <a:p>
                      <a:r>
                        <a:rPr lang="fr-FR" sz="1200" b="1" dirty="0">
                          <a:solidFill>
                            <a:schemeClr val="bg1"/>
                          </a:solidFill>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1.3.1.0</a:t>
                      </a:r>
                    </a:p>
                  </a:txBody>
                  <a:tcPr anchor="ctr">
                    <a:solidFill>
                      <a:schemeClr val="accent1"/>
                    </a:solidFill>
                  </a:tcPr>
                </a:tc>
                <a:tc>
                  <a:txBody>
                    <a:bodyPr/>
                    <a:lstStyle/>
                    <a:p>
                      <a:r>
                        <a:rPr lang="fr-FR" sz="1200" b="1" dirty="0">
                          <a:solidFill>
                            <a:schemeClr val="bg1"/>
                          </a:solidFill>
                        </a:rPr>
                        <a:t>1.4.0.0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Gestion de compétition 2.0</a:t>
                      </a:r>
                    </a:p>
                  </a:txBody>
                  <a:tcPr vert="vert270" anchor="ctr">
                    <a:solidFill>
                      <a:schemeClr val="accent1"/>
                    </a:solidFill>
                  </a:tcPr>
                </a:tc>
                <a:tc>
                  <a:txBody>
                    <a:bodyPr/>
                    <a:lstStyle/>
                    <a:p>
                      <a:r>
                        <a:rPr lang="fr-FR" sz="1200" b="1" dirty="0">
                          <a:solidFill>
                            <a:schemeClr val="bg1"/>
                          </a:solidFill>
                        </a:rPr>
                        <a:t>1.2.5.1</a:t>
                      </a:r>
                    </a:p>
                  </a:txBody>
                  <a:tcPr anchor="ctr">
                    <a:solidFill>
                      <a:schemeClr val="accent1"/>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200" b="1" dirty="0">
                          <a:solidFill>
                            <a:schemeClr val="bg1"/>
                          </a:solidFill>
                        </a:rPr>
                        <a:t>1.2.6.0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1.2.6.1</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1.2.6.3</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1.2.6.5</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1.2.6.6</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1.2.7.1</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1.2.7.2</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1.4.0.0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299860152"/>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729891774"/>
              </p:ext>
            </p:extLst>
          </p:nvPr>
        </p:nvGraphicFramePr>
        <p:xfrm>
          <a:off x="1505208" y="6065520"/>
          <a:ext cx="8861428" cy="36683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366832">
                <a:tc>
                  <a:txBody>
                    <a:bodyPr/>
                    <a:lstStyle/>
                    <a:p>
                      <a:pPr algn="r"/>
                      <a:r>
                        <a:rPr lang="fr-FR" sz="1400" i="1" dirty="0"/>
                        <a:t>Légende:</a:t>
                      </a:r>
                    </a:p>
                  </a:txBody>
                  <a:tcPr anchor="ctr"/>
                </a:tc>
                <a:tc>
                  <a:txBody>
                    <a:bodyPr/>
                    <a:lstStyle/>
                    <a:p>
                      <a:r>
                        <a:rPr lang="fr-FR" sz="1100" i="1" dirty="0"/>
                        <a:t>Compatible</a:t>
                      </a:r>
                    </a:p>
                  </a:txBody>
                  <a:tcPr anchor="ctr">
                    <a:solidFill>
                      <a:schemeClr val="accent6"/>
                    </a:solidFill>
                  </a:tcPr>
                </a:tc>
                <a:tc>
                  <a:txBody>
                    <a:bodyPr/>
                    <a:lstStyle/>
                    <a:p>
                      <a:r>
                        <a:rPr lang="fr-FR" sz="1100" i="1" dirty="0"/>
                        <a:t>Utilisable mais certaines données peuvent ne pas s’afficher correctement</a:t>
                      </a:r>
                    </a:p>
                  </a:txBody>
                  <a:tcPr anchor="ctr">
                    <a:solidFill>
                      <a:schemeClr val="accent4"/>
                    </a:solidFill>
                  </a:tcPr>
                </a:tc>
                <a:tc>
                  <a:txBody>
                    <a:bodyPr/>
                    <a:lstStyle/>
                    <a:p>
                      <a:r>
                        <a:rPr lang="fr-FR" sz="11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en-US"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p:txBody>
          <a:bodyPr/>
          <a:lstStyle/>
          <a:p>
            <a:r>
              <a:rPr lang="en-US" dirty="0"/>
              <a:t>TBD</a:t>
            </a:r>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12331225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1719483"/>
            <a:ext cx="5153779" cy="4664064"/>
          </a:xfrm>
        </p:spPr>
        <p:txBody>
          <a:bodyPr/>
          <a:lstStyle/>
          <a:p>
            <a:r>
              <a:rPr lang="fr-FR" sz="1200" b="1" dirty="0">
                <a:latin typeface="Barlow" panose="00000500000000000000" pitchFamily="2" charset="0"/>
              </a:rPr>
              <a:t>V1.4.0.0 – 09/2025</a:t>
            </a:r>
          </a:p>
          <a:p>
            <a:pPr lvl="1">
              <a:spcBef>
                <a:spcPts val="0"/>
              </a:spcBef>
            </a:pPr>
            <a:r>
              <a:rPr lang="fr-FR" sz="1200" dirty="0">
                <a:latin typeface="Barlow" panose="00000500000000000000" pitchFamily="2" charset="0"/>
              </a:rPr>
              <a:t>Support de l’affichage des judokas engagés</a:t>
            </a:r>
          </a:p>
          <a:p>
            <a:pPr lvl="1">
              <a:spcBef>
                <a:spcPts val="0"/>
              </a:spcBef>
            </a:pPr>
            <a:r>
              <a:rPr lang="fr-FR" sz="1200" dirty="0">
                <a:latin typeface="Barlow" panose="00000500000000000000" pitchFamily="2" charset="0"/>
              </a:rPr>
              <a:t>Correction d’anomalies</a:t>
            </a:r>
          </a:p>
          <a:p>
            <a:pPr lvl="1">
              <a:spcBef>
                <a:spcPts val="0"/>
              </a:spcBef>
            </a:pPr>
            <a:r>
              <a:rPr lang="fr-FR" sz="1200" dirty="0">
                <a:latin typeface="Barlow" panose="00000500000000000000" pitchFamily="2" charset="0"/>
              </a:rPr>
              <a:t>Optimisation de la vitesse de génération</a:t>
            </a:r>
          </a:p>
          <a:p>
            <a:pPr lvl="1">
              <a:spcBef>
                <a:spcPts val="0"/>
              </a:spcBef>
            </a:pPr>
            <a:endParaRPr lang="fr-FR" sz="1200" b="1" dirty="0">
              <a:latin typeface="Barlow" panose="00000500000000000000" pitchFamily="2" charset="0"/>
            </a:endParaRPr>
          </a:p>
          <a:p>
            <a:r>
              <a:rPr lang="fr-FR" sz="1200" b="1" dirty="0">
                <a:latin typeface="Barlow" panose="00000500000000000000" pitchFamily="2" charset="0"/>
              </a:rPr>
              <a:t>V1.3.1.0 – 05/2025</a:t>
            </a:r>
          </a:p>
          <a:p>
            <a:pPr lvl="1">
              <a:spcBef>
                <a:spcPts val="0"/>
              </a:spcBef>
            </a:pPr>
            <a:r>
              <a:rPr lang="fr-FR" sz="1200" dirty="0">
                <a:latin typeface="Barlow" panose="00000500000000000000" pitchFamily="2" charset="0"/>
              </a:rPr>
              <a:t>Prise en charge des équipes mixtes</a:t>
            </a:r>
          </a:p>
          <a:p>
            <a:pPr lvl="1">
              <a:spcBef>
                <a:spcPts val="0"/>
              </a:spcBef>
            </a:pPr>
            <a:r>
              <a:rPr lang="fr-FR" sz="1200" dirty="0">
                <a:latin typeface="Barlow" panose="00000500000000000000" pitchFamily="2" charset="0"/>
              </a:rPr>
              <a:t>Correction d’anomalies</a:t>
            </a:r>
          </a:p>
          <a:p>
            <a:pPr lvl="1">
              <a:spcBef>
                <a:spcPts val="0"/>
              </a:spcBef>
            </a:pPr>
            <a:endParaRPr lang="fr-FR" sz="1200" b="1" dirty="0">
              <a:latin typeface="Barlow" panose="00000500000000000000" pitchFamily="2" charset="0"/>
            </a:endParaRPr>
          </a:p>
          <a:p>
            <a:r>
              <a:rPr lang="fr-FR" sz="1200" b="1" dirty="0">
                <a:latin typeface="Barlow" panose="00000500000000000000" pitchFamily="2" charset="0"/>
              </a:rPr>
              <a:t>v1.3.0.3 – 03/2025</a:t>
            </a:r>
          </a:p>
          <a:p>
            <a:pPr lvl="1">
              <a:spcBef>
                <a:spcPts val="0"/>
              </a:spcBef>
            </a:pPr>
            <a:r>
              <a:rPr lang="fr-FR" sz="1200" dirty="0">
                <a:latin typeface="Barlow" panose="00000500000000000000" pitchFamily="2" charset="0"/>
              </a:rPr>
              <a:t>Correction des problèmes de synchronisations sur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Correction de problèmes mineurs d’affichage</a:t>
            </a:r>
          </a:p>
          <a:p>
            <a:pPr lvl="1">
              <a:spcBef>
                <a:spcPts val="0"/>
              </a:spcBef>
            </a:pPr>
            <a:r>
              <a:rPr lang="fr-FR" sz="1200" dirty="0">
                <a:latin typeface="Barlow" panose="00000500000000000000" pitchFamily="2" charset="0"/>
              </a:rPr>
              <a:t>Modification de répertoire de travail par défaut</a:t>
            </a:r>
          </a:p>
          <a:p>
            <a:pPr lvl="1">
              <a:spcBef>
                <a:spcPts val="0"/>
              </a:spcBef>
            </a:pPr>
            <a:endParaRPr lang="fr-FR" sz="1200" dirty="0">
              <a:latin typeface="Barlow" panose="00000500000000000000" pitchFamily="2" charset="0"/>
            </a:endParaRPr>
          </a:p>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pPr lvl="1">
              <a:spcBef>
                <a:spcPts val="0"/>
              </a:spcBef>
            </a:pPr>
            <a:r>
              <a:rPr lang="fr-FR" sz="1200" dirty="0">
                <a:latin typeface="Barlow" panose="00000500000000000000" pitchFamily="2" charset="0"/>
              </a:rPr>
              <a:t>Ajout de la possibilité d’ajouter un logo personnalisé</a:t>
            </a:r>
          </a:p>
          <a:p>
            <a:pPr lvl="1">
              <a:spcBef>
                <a:spcPts val="0"/>
              </a:spcBef>
            </a:pPr>
            <a:r>
              <a:rPr lang="fr-FR" sz="1200" dirty="0">
                <a:latin typeface="Barlow" panose="00000500000000000000" pitchFamily="2" charset="0"/>
              </a:rPr>
              <a:t>Gestion des URLs longues</a:t>
            </a:r>
          </a:p>
          <a:p>
            <a:pPr lvl="1">
              <a:spcBef>
                <a:spcPts val="0"/>
              </a:spcBef>
            </a:pPr>
            <a:r>
              <a:rPr lang="fr-FR" sz="1200" dirty="0">
                <a:latin typeface="Barlow" panose="00000500000000000000" pitchFamily="2" charset="0"/>
              </a:rPr>
              <a:t>Prise en compte des Yukos</a:t>
            </a: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1508722"/>
            <a:ext cx="6277729" cy="4368956"/>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endParaRPr lang="fr-FR" sz="1200" b="1" dirty="0">
              <a:latin typeface="Barlow" panose="00000500000000000000" pitchFamily="2" charset="0"/>
            </a:endParaRPr>
          </a:p>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pic>
        <p:nvPicPr>
          <p:cNvPr id="10" name="Image 9">
            <a:extLst>
              <a:ext uri="{FF2B5EF4-FFF2-40B4-BE49-F238E27FC236}">
                <a16:creationId xmlns:a16="http://schemas.microsoft.com/office/drawing/2014/main" id="{804C31F6-97C4-3A6E-A46D-53FB6E1EBDB9}"/>
              </a:ext>
            </a:extLst>
          </p:cNvPr>
          <p:cNvPicPr>
            <a:picLocks noChangeAspect="1"/>
          </p:cNvPicPr>
          <p:nvPr/>
        </p:nvPicPr>
        <p:blipFill>
          <a:blip r:embed="rId2"/>
          <a:stretch>
            <a:fillRect/>
          </a:stretch>
        </p:blipFill>
        <p:spPr>
          <a:xfrm>
            <a:off x="2828920" y="2943180"/>
            <a:ext cx="1361973" cy="2218472"/>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162353" y="3993899"/>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405671" y="2683257"/>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405672" y="354125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cxnSpLocks/>
            <a:stCxn id="3" idx="3"/>
            <a:endCxn id="5" idx="1"/>
          </p:cNvCxnSpPr>
          <p:nvPr/>
        </p:nvCxnSpPr>
        <p:spPr>
          <a:xfrm flipV="1">
            <a:off x="7791129" y="2947457"/>
            <a:ext cx="1614542" cy="131064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flipV="1">
            <a:off x="7791129" y="3805450"/>
            <a:ext cx="1614543" cy="45264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162353" y="485795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205646" y="4505366"/>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flipV="1">
            <a:off x="7791129" y="4769566"/>
            <a:ext cx="1414517" cy="352584"/>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162353" y="1401746"/>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6038528" y="2265797"/>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256725" y="1544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44237" y="1541505"/>
            <a:ext cx="1709361" cy="579970"/>
          </a:xfrm>
          <a:prstGeom prst="accentBorderCallout1">
            <a:avLst>
              <a:gd name="adj1" fmla="val 18750"/>
              <a:gd name="adj2" fmla="val -8333"/>
              <a:gd name="adj3" fmla="val 153041"/>
              <a:gd name="adj4" fmla="val -3941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36417" y="2312910"/>
            <a:ext cx="1725000" cy="579970"/>
          </a:xfrm>
          <a:prstGeom prst="accentBorderCallout1">
            <a:avLst>
              <a:gd name="adj1" fmla="val 18750"/>
              <a:gd name="adj2" fmla="val -8333"/>
              <a:gd name="adj3" fmla="val 147358"/>
              <a:gd name="adj4" fmla="val -4823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36417" y="3084315"/>
            <a:ext cx="1725000" cy="710686"/>
          </a:xfrm>
          <a:prstGeom prst="accentBorderCallout1">
            <a:avLst>
              <a:gd name="adj1" fmla="val 18750"/>
              <a:gd name="adj2" fmla="val -8333"/>
              <a:gd name="adj3" fmla="val 65506"/>
              <a:gd name="adj4" fmla="val -497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6261" y="5285039"/>
            <a:ext cx="1735155" cy="436961"/>
          </a:xfrm>
          <a:prstGeom prst="accentBorderCallout1">
            <a:avLst>
              <a:gd name="adj1" fmla="val 18750"/>
              <a:gd name="adj2" fmla="val -8333"/>
              <a:gd name="adj3" fmla="val -179649"/>
              <a:gd name="adj4" fmla="val -47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816827" y="4336833"/>
            <a:ext cx="1402743" cy="26063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0" y="3631157"/>
            <a:ext cx="1356940" cy="426863"/>
          </a:xfrm>
          <a:custGeom>
            <a:avLst/>
            <a:gdLst>
              <a:gd name="csX0" fmla="*/ 0 w 1356940"/>
              <a:gd name="csY0" fmla="*/ 0 h 426863"/>
              <a:gd name="csX1" fmla="*/ 479452 w 1356940"/>
              <a:gd name="csY1" fmla="*/ 0 h 426863"/>
              <a:gd name="csX2" fmla="*/ 904627 w 1356940"/>
              <a:gd name="csY2" fmla="*/ 0 h 426863"/>
              <a:gd name="csX3" fmla="*/ 1356940 w 1356940"/>
              <a:gd name="csY3" fmla="*/ 0 h 426863"/>
              <a:gd name="csX4" fmla="*/ 1356940 w 1356940"/>
              <a:gd name="csY4" fmla="*/ 426863 h 426863"/>
              <a:gd name="csX5" fmla="*/ 918196 w 1356940"/>
              <a:gd name="csY5" fmla="*/ 426863 h 426863"/>
              <a:gd name="csX6" fmla="*/ 438744 w 1356940"/>
              <a:gd name="csY6" fmla="*/ 426863 h 426863"/>
              <a:gd name="csX7" fmla="*/ 0 w 1356940"/>
              <a:gd name="csY7" fmla="*/ 426863 h 426863"/>
              <a:gd name="csX8" fmla="*/ 0 w 1356940"/>
              <a:gd name="csY8" fmla="*/ 0 h 4268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06019" y="4111891"/>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23224" y="3986436"/>
            <a:ext cx="1751385" cy="454039"/>
          </a:xfrm>
          <a:prstGeom prst="accentBorderCallout1">
            <a:avLst>
              <a:gd name="adj1" fmla="val 18750"/>
              <a:gd name="adj2" fmla="val -8333"/>
              <a:gd name="adj3" fmla="val -27179"/>
              <a:gd name="adj4" fmla="val -476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3224" y="4631910"/>
            <a:ext cx="1730374" cy="461694"/>
          </a:xfrm>
          <a:prstGeom prst="accentBorderCallout1">
            <a:avLst>
              <a:gd name="adj1" fmla="val 18750"/>
              <a:gd name="adj2" fmla="val -8333"/>
              <a:gd name="adj3" fmla="val -92500"/>
              <a:gd name="adj4" fmla="val -4917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6038528" y="3129848"/>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914954" y="1808820"/>
            <a:ext cx="1341771" cy="721177"/>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62" idx="1"/>
          </p:cNvCxnSpPr>
          <p:nvPr/>
        </p:nvCxnSpPr>
        <p:spPr>
          <a:xfrm flipV="1">
            <a:off x="4174344" y="3394048"/>
            <a:ext cx="1864184" cy="809804"/>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p:cNvCxnSpPr>
          <p:nvPr/>
        </p:nvCxnSpPr>
        <p:spPr>
          <a:xfrm flipV="1">
            <a:off x="4126185" y="1815368"/>
            <a:ext cx="1892172" cy="1708050"/>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36" idx="1"/>
          </p:cNvCxnSpPr>
          <p:nvPr/>
        </p:nvCxnSpPr>
        <p:spPr>
          <a:xfrm flipV="1">
            <a:off x="4186040" y="2529997"/>
            <a:ext cx="1852488" cy="1481308"/>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flipV="1">
            <a:off x="4242471" y="4258099"/>
            <a:ext cx="1919882" cy="211994"/>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174229" y="4769093"/>
            <a:ext cx="1988124" cy="35305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FAA0A9C5-1773-0DFE-0ECD-5E3D4CDC3B19}"/>
              </a:ext>
            </a:extLst>
          </p:cNvPr>
          <p:cNvSpPr/>
          <p:nvPr/>
        </p:nvSpPr>
        <p:spPr>
          <a:xfrm>
            <a:off x="2825389" y="4905347"/>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D5B86EA-B684-C6D9-2593-6092B9DF40AF}"/>
              </a:ext>
            </a:extLst>
          </p:cNvPr>
          <p:cNvSpPr/>
          <p:nvPr/>
        </p:nvSpPr>
        <p:spPr>
          <a:xfrm flipH="1">
            <a:off x="236417" y="5913437"/>
            <a:ext cx="1717181"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Engagements »</a:t>
            </a:r>
          </a:p>
        </p:txBody>
      </p:sp>
      <p:sp>
        <p:nvSpPr>
          <p:cNvPr id="33" name="Rectangle : coins arrondis 32">
            <a:extLst>
              <a:ext uri="{FF2B5EF4-FFF2-40B4-BE49-F238E27FC236}">
                <a16:creationId xmlns:a16="http://schemas.microsoft.com/office/drawing/2014/main" id="{DDEE0534-2E14-3ACC-7EA4-3DCB7C19DBF1}"/>
              </a:ext>
            </a:extLst>
          </p:cNvPr>
          <p:cNvSpPr/>
          <p:nvPr/>
        </p:nvSpPr>
        <p:spPr>
          <a:xfrm>
            <a:off x="6162353" y="572200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Engagements (choix du groupe)</a:t>
            </a:r>
          </a:p>
        </p:txBody>
      </p:sp>
      <p:sp>
        <p:nvSpPr>
          <p:cNvPr id="35" name="Rectangle : coins arrondis 34">
            <a:extLst>
              <a:ext uri="{FF2B5EF4-FFF2-40B4-BE49-F238E27FC236}">
                <a16:creationId xmlns:a16="http://schemas.microsoft.com/office/drawing/2014/main" id="{14CE2E6C-BEDD-2847-FBC1-14764A9042C1}"/>
              </a:ext>
            </a:extLst>
          </p:cNvPr>
          <p:cNvSpPr/>
          <p:nvPr/>
        </p:nvSpPr>
        <p:spPr>
          <a:xfrm>
            <a:off x="9180525" y="5499048"/>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Liste du judokas engagés du groupe</a:t>
            </a:r>
          </a:p>
        </p:txBody>
      </p:sp>
      <p:cxnSp>
        <p:nvCxnSpPr>
          <p:cNvPr id="44" name="Connecteur : en angle 10">
            <a:extLst>
              <a:ext uri="{FF2B5EF4-FFF2-40B4-BE49-F238E27FC236}">
                <a16:creationId xmlns:a16="http://schemas.microsoft.com/office/drawing/2014/main" id="{9EB727D6-5DA8-87B5-58E7-A7B786097F88}"/>
              </a:ext>
            </a:extLst>
          </p:cNvPr>
          <p:cNvCxnSpPr>
            <a:cxnSpLocks/>
            <a:stCxn id="33" idx="3"/>
            <a:endCxn id="35" idx="1"/>
          </p:cNvCxnSpPr>
          <p:nvPr/>
        </p:nvCxnSpPr>
        <p:spPr>
          <a:xfrm flipV="1">
            <a:off x="7791129" y="5763248"/>
            <a:ext cx="1389396" cy="22295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10">
            <a:extLst>
              <a:ext uri="{FF2B5EF4-FFF2-40B4-BE49-F238E27FC236}">
                <a16:creationId xmlns:a16="http://schemas.microsoft.com/office/drawing/2014/main" id="{2C375E33-F60B-2A42-DF2C-E3DA4EF3762B}"/>
              </a:ext>
            </a:extLst>
          </p:cNvPr>
          <p:cNvCxnSpPr>
            <a:cxnSpLocks/>
            <a:stCxn id="12" idx="3"/>
            <a:endCxn id="33" idx="1"/>
          </p:cNvCxnSpPr>
          <p:nvPr/>
        </p:nvCxnSpPr>
        <p:spPr>
          <a:xfrm>
            <a:off x="4194422" y="5011897"/>
            <a:ext cx="1967931" cy="974303"/>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sX0" fmla="*/ 0 w 5096510"/>
              <a:gd name="csY0" fmla="*/ 0 h 346836"/>
              <a:gd name="csX1" fmla="*/ 668209 w 5096510"/>
              <a:gd name="csY1" fmla="*/ 0 h 346836"/>
              <a:gd name="csX2" fmla="*/ 1132558 w 5096510"/>
              <a:gd name="csY2" fmla="*/ 0 h 346836"/>
              <a:gd name="csX3" fmla="*/ 1596906 w 5096510"/>
              <a:gd name="csY3" fmla="*/ 0 h 346836"/>
              <a:gd name="csX4" fmla="*/ 2265116 w 5096510"/>
              <a:gd name="csY4" fmla="*/ 0 h 346836"/>
              <a:gd name="csX5" fmla="*/ 2882360 w 5096510"/>
              <a:gd name="csY5" fmla="*/ 0 h 346836"/>
              <a:gd name="csX6" fmla="*/ 3448638 w 5096510"/>
              <a:gd name="csY6" fmla="*/ 0 h 346836"/>
              <a:gd name="csX7" fmla="*/ 4065882 w 5096510"/>
              <a:gd name="csY7" fmla="*/ 0 h 346836"/>
              <a:gd name="csX8" fmla="*/ 4479266 w 5096510"/>
              <a:gd name="csY8" fmla="*/ 0 h 346836"/>
              <a:gd name="csX9" fmla="*/ 5096510 w 5096510"/>
              <a:gd name="csY9" fmla="*/ 0 h 346836"/>
              <a:gd name="csX10" fmla="*/ 5096510 w 5096510"/>
              <a:gd name="csY10" fmla="*/ 346836 h 346836"/>
              <a:gd name="csX11" fmla="*/ 4632161 w 5096510"/>
              <a:gd name="csY11" fmla="*/ 346836 h 346836"/>
              <a:gd name="csX12" fmla="*/ 4116848 w 5096510"/>
              <a:gd name="csY12" fmla="*/ 346836 h 346836"/>
              <a:gd name="csX13" fmla="*/ 3703464 w 5096510"/>
              <a:gd name="csY13" fmla="*/ 346836 h 346836"/>
              <a:gd name="csX14" fmla="*/ 3290080 w 5096510"/>
              <a:gd name="csY14" fmla="*/ 346836 h 346836"/>
              <a:gd name="csX15" fmla="*/ 2621871 w 5096510"/>
              <a:gd name="csY15" fmla="*/ 346836 h 346836"/>
              <a:gd name="csX16" fmla="*/ 2004627 w 5096510"/>
              <a:gd name="csY16" fmla="*/ 346836 h 346836"/>
              <a:gd name="csX17" fmla="*/ 1489313 w 5096510"/>
              <a:gd name="csY17" fmla="*/ 346836 h 346836"/>
              <a:gd name="csX18" fmla="*/ 872069 w 5096510"/>
              <a:gd name="csY18" fmla="*/ 346836 h 346836"/>
              <a:gd name="csX19" fmla="*/ 0 w 5096510"/>
              <a:gd name="csY19" fmla="*/ 346836 h 346836"/>
              <a:gd name="csX20" fmla="*/ 0 w 5096510"/>
              <a:gd name="csY20" fmla="*/ 0 h 3468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sX0" fmla="*/ 0 w 4918075"/>
              <a:gd name="csY0" fmla="*/ 0 h 346836"/>
              <a:gd name="csX1" fmla="*/ 644814 w 4918075"/>
              <a:gd name="csY1" fmla="*/ 0 h 346836"/>
              <a:gd name="csX2" fmla="*/ 1092906 w 4918075"/>
              <a:gd name="csY2" fmla="*/ 0 h 346836"/>
              <a:gd name="csX3" fmla="*/ 1540997 w 4918075"/>
              <a:gd name="csY3" fmla="*/ 0 h 346836"/>
              <a:gd name="csX4" fmla="*/ 2185811 w 4918075"/>
              <a:gd name="csY4" fmla="*/ 0 h 346836"/>
              <a:gd name="csX5" fmla="*/ 2781445 w 4918075"/>
              <a:gd name="csY5" fmla="*/ 0 h 346836"/>
              <a:gd name="csX6" fmla="*/ 3327897 w 4918075"/>
              <a:gd name="csY6" fmla="*/ 0 h 346836"/>
              <a:gd name="csX7" fmla="*/ 3923531 w 4918075"/>
              <a:gd name="csY7" fmla="*/ 0 h 346836"/>
              <a:gd name="csX8" fmla="*/ 4322441 w 4918075"/>
              <a:gd name="csY8" fmla="*/ 0 h 346836"/>
              <a:gd name="csX9" fmla="*/ 4918075 w 4918075"/>
              <a:gd name="csY9" fmla="*/ 0 h 346836"/>
              <a:gd name="csX10" fmla="*/ 4918075 w 4918075"/>
              <a:gd name="csY10" fmla="*/ 346836 h 346836"/>
              <a:gd name="csX11" fmla="*/ 4469984 w 4918075"/>
              <a:gd name="csY11" fmla="*/ 346836 h 346836"/>
              <a:gd name="csX12" fmla="*/ 3972712 w 4918075"/>
              <a:gd name="csY12" fmla="*/ 346836 h 346836"/>
              <a:gd name="csX13" fmla="*/ 3573801 w 4918075"/>
              <a:gd name="csY13" fmla="*/ 346836 h 346836"/>
              <a:gd name="csX14" fmla="*/ 3174891 w 4918075"/>
              <a:gd name="csY14" fmla="*/ 346836 h 346836"/>
              <a:gd name="csX15" fmla="*/ 2530076 w 4918075"/>
              <a:gd name="csY15" fmla="*/ 346836 h 346836"/>
              <a:gd name="csX16" fmla="*/ 1934443 w 4918075"/>
              <a:gd name="csY16" fmla="*/ 346836 h 346836"/>
              <a:gd name="csX17" fmla="*/ 1437171 w 4918075"/>
              <a:gd name="csY17" fmla="*/ 346836 h 346836"/>
              <a:gd name="csX18" fmla="*/ 841537 w 4918075"/>
              <a:gd name="csY18" fmla="*/ 346836 h 346836"/>
              <a:gd name="csX19" fmla="*/ 0 w 4918075"/>
              <a:gd name="csY19" fmla="*/ 346836 h 346836"/>
              <a:gd name="csX20" fmla="*/ 0 w 4918075"/>
              <a:gd name="csY20" fmla="*/ 0 h 3468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6916917" y="2188659"/>
            <a:ext cx="1921943"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configurée</a:t>
            </a:r>
          </a:p>
        </p:txBody>
      </p:sp>
    </p:spTree>
    <p:extLst>
      <p:ext uri="{BB962C8B-B14F-4D97-AF65-F5344CB8AC3E}">
        <p14:creationId xmlns:p14="http://schemas.microsoft.com/office/powerpoint/2010/main" val="12624137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241474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240705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Engagements (choix du groupe)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240705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240705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Liste du judokas engagés du groupe</a:t>
            </a:r>
          </a:p>
        </p:txBody>
      </p:sp>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550920" y="3581400"/>
            <a:ext cx="3764280" cy="1463040"/>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2"/>
          <a:stretch>
            <a:fillRect/>
          </a:stretch>
        </p:blipFill>
        <p:spPr>
          <a:xfrm>
            <a:off x="1943012" y="2885598"/>
            <a:ext cx="1947557" cy="3123248"/>
          </a:xfrm>
          <a:prstGeom prst="rect">
            <a:avLst/>
          </a:prstGeom>
        </p:spPr>
      </p:pic>
      <p:pic>
        <p:nvPicPr>
          <p:cNvPr id="15" name="Image 14">
            <a:extLst>
              <a:ext uri="{FF2B5EF4-FFF2-40B4-BE49-F238E27FC236}">
                <a16:creationId xmlns:a16="http://schemas.microsoft.com/office/drawing/2014/main" id="{6622D6F8-F733-8118-2FB6-2C6140A360D4}"/>
              </a:ext>
            </a:extLst>
          </p:cNvPr>
          <p:cNvPicPr>
            <a:picLocks noChangeAspect="1"/>
          </p:cNvPicPr>
          <p:nvPr/>
        </p:nvPicPr>
        <p:blipFill>
          <a:blip r:embed="rId3"/>
          <a:stretch>
            <a:fillRect/>
          </a:stretch>
        </p:blipFill>
        <p:spPr>
          <a:xfrm>
            <a:off x="7381104" y="2932577"/>
            <a:ext cx="1771496" cy="2826068"/>
          </a:xfrm>
          <a:prstGeom prst="rect">
            <a:avLst/>
          </a:prstGeom>
        </p:spPr>
      </p:pic>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195796" y="1667897"/>
            <a:ext cx="1838743" cy="622069"/>
          </a:xfrm>
          <a:prstGeom prst="accentBorderCallout1">
            <a:avLst>
              <a:gd name="adj1" fmla="val 18750"/>
              <a:gd name="adj2" fmla="val -8333"/>
              <a:gd name="adj3" fmla="val 332633"/>
              <a:gd name="adj4" fmla="val -3682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Les groupes s’affichent en fonction du niveau de la compétition</a:t>
            </a:r>
          </a:p>
        </p:txBody>
      </p:sp>
      <p:sp>
        <p:nvSpPr>
          <p:cNvPr id="18" name="Légende : encadrée à une bordure 17">
            <a:extLst>
              <a:ext uri="{FF2B5EF4-FFF2-40B4-BE49-F238E27FC236}">
                <a16:creationId xmlns:a16="http://schemas.microsoft.com/office/drawing/2014/main" id="{5B0DE0D3-30A3-096C-3B47-4338CAAFA417}"/>
              </a:ext>
            </a:extLst>
          </p:cNvPr>
          <p:cNvSpPr/>
          <p:nvPr/>
        </p:nvSpPr>
        <p:spPr>
          <a:xfrm flipH="1">
            <a:off x="4864373" y="6008846"/>
            <a:ext cx="1734547" cy="478675"/>
          </a:xfrm>
          <a:prstGeom prst="accentBorderCallout1">
            <a:avLst>
              <a:gd name="adj1" fmla="val 18750"/>
              <a:gd name="adj2" fmla="val -8333"/>
              <a:gd name="adj3" fmla="val -65340"/>
              <a:gd name="adj4" fmla="val -90863"/>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En fonction du mode d’affichage G/P ou 1</a:t>
            </a:r>
            <a:r>
              <a:rPr lang="fr-FR" sz="1050" baseline="30000" dirty="0"/>
              <a:t>er</a:t>
            </a:r>
            <a:r>
              <a:rPr lang="fr-FR" sz="1050" dirty="0"/>
              <a:t>/2</a:t>
            </a:r>
            <a:r>
              <a:rPr lang="fr-FR" sz="1050" baseline="30000" dirty="0"/>
              <a:t>nd</a:t>
            </a:r>
            <a:r>
              <a:rPr lang="fr-FR" sz="1050" dirty="0"/>
              <a:t> </a:t>
            </a:r>
          </a:p>
        </p:txBody>
      </p:sp>
      <p:sp>
        <p:nvSpPr>
          <p:cNvPr id="19" name="Légende : encadrée à une bordure 18">
            <a:extLst>
              <a:ext uri="{FF2B5EF4-FFF2-40B4-BE49-F238E27FC236}">
                <a16:creationId xmlns:a16="http://schemas.microsoft.com/office/drawing/2014/main" id="{5979D410-AE88-188F-2F2A-1733AEB966F8}"/>
              </a:ext>
            </a:extLst>
          </p:cNvPr>
          <p:cNvSpPr/>
          <p:nvPr/>
        </p:nvSpPr>
        <p:spPr>
          <a:xfrm>
            <a:off x="10006229" y="3044166"/>
            <a:ext cx="1591410" cy="478675"/>
          </a:xfrm>
          <a:prstGeom prst="accentBorderCallout1">
            <a:avLst>
              <a:gd name="adj1" fmla="val 18750"/>
              <a:gd name="adj2" fmla="val -8333"/>
              <a:gd name="adj3" fmla="val 186179"/>
              <a:gd name="adj4" fmla="val -68837"/>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Uniquement si affichage de tous les judokas</a:t>
            </a:r>
          </a:p>
        </p:txBody>
      </p:sp>
      <p:sp>
        <p:nvSpPr>
          <p:cNvPr id="20" name="Légende : encadrée à une bordure 19">
            <a:extLst>
              <a:ext uri="{FF2B5EF4-FFF2-40B4-BE49-F238E27FC236}">
                <a16:creationId xmlns:a16="http://schemas.microsoft.com/office/drawing/2014/main" id="{4031B635-70E3-5D48-DC9A-F1E2EA22390A}"/>
              </a:ext>
            </a:extLst>
          </p:cNvPr>
          <p:cNvSpPr/>
          <p:nvPr/>
        </p:nvSpPr>
        <p:spPr>
          <a:xfrm>
            <a:off x="10171975" y="4652702"/>
            <a:ext cx="1591410" cy="478675"/>
          </a:xfrm>
          <a:prstGeom prst="accentBorderCallout1">
            <a:avLst>
              <a:gd name="adj1" fmla="val 18750"/>
              <a:gd name="adj2" fmla="val -8333"/>
              <a:gd name="adj3" fmla="val 186179"/>
              <a:gd name="adj4" fmla="val -68837"/>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Uniquement si affichage de tous les combats</a:t>
            </a:r>
          </a:p>
        </p:txBody>
      </p:sp>
    </p:spTree>
    <p:extLst>
      <p:ext uri="{BB962C8B-B14F-4D97-AF65-F5344CB8AC3E}">
        <p14:creationId xmlns:p14="http://schemas.microsoft.com/office/powerpoint/2010/main" val="9808312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3.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10209</TotalTime>
  <Words>3714</Words>
  <Application>Microsoft Office PowerPoint</Application>
  <PresentationFormat>Widescreen</PresentationFormat>
  <Paragraphs>483</Paragraphs>
  <Slides>46</Slides>
  <Notes>0</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46</vt:i4>
      </vt:variant>
    </vt:vector>
  </HeadingPairs>
  <TitlesOfParts>
    <vt:vector size="58"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PowerPoint Presentation</vt:lpstr>
      <vt:lpstr>PowerPoint Presentation</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Ecrans &amp; fonctionnalités</vt:lpstr>
      <vt:lpstr>Ecran Principal</vt:lpstr>
      <vt:lpstr>Ecran Principal – Panneau de commande principal</vt:lpstr>
      <vt:lpstr>Ecran Principal – Publication locale</vt:lpstr>
      <vt:lpstr>Ecran Principal – Publication distante (config. FFJudo)</vt:lpstr>
      <vt:lpstr>Ecran Principal – Publication distante (config. avancée)</vt:lpstr>
      <vt:lpstr>Ecran Principal – Publication sur FFJudo</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Manuel</vt:lpstr>
      <vt:lpstr>Ecran d’information</vt:lpstr>
      <vt:lpstr>Dépannage</vt:lpstr>
      <vt:lpstr>Eléments à contrôler - Génération</vt:lpstr>
      <vt:lpstr>Eléments à contrôler – Publication locale</vt:lpstr>
      <vt:lpstr>Eléments à contrôler – Publication distante</vt:lpstr>
      <vt:lpstr>Annexe</vt:lpstr>
      <vt:lpstr>Matrice de compatibilité</vt:lpstr>
      <vt:lpstr>Communication réseau</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91</cp:revision>
  <dcterms:created xsi:type="dcterms:W3CDTF">2021-04-26T15:18:08Z</dcterms:created>
  <dcterms:modified xsi:type="dcterms:W3CDTF">2026-04-07T11:30:05Z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