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9"/>
  </p:notesMasterIdLst>
  <p:handoutMasterIdLst>
    <p:handoutMasterId r:id="rId50"/>
  </p:handoutMasterIdLst>
  <p:sldIdLst>
    <p:sldId id="293" r:id="rId8"/>
    <p:sldId id="299" r:id="rId9"/>
    <p:sldId id="279" r:id="rId10"/>
    <p:sldId id="300" r:id="rId11"/>
    <p:sldId id="301" r:id="rId12"/>
    <p:sldId id="308" r:id="rId13"/>
    <p:sldId id="307" r:id="rId14"/>
    <p:sldId id="313" r:id="rId15"/>
    <p:sldId id="317" r:id="rId16"/>
    <p:sldId id="318" r:id="rId17"/>
    <p:sldId id="336" r:id="rId18"/>
    <p:sldId id="319" r:id="rId19"/>
    <p:sldId id="337" r:id="rId20"/>
    <p:sldId id="320" r:id="rId21"/>
    <p:sldId id="314" r:id="rId22"/>
    <p:sldId id="315" r:id="rId23"/>
    <p:sldId id="321" r:id="rId24"/>
    <p:sldId id="322" r:id="rId25"/>
    <p:sldId id="316" r:id="rId26"/>
    <p:sldId id="338" r:id="rId27"/>
    <p:sldId id="339" r:id="rId28"/>
    <p:sldId id="309" r:id="rId29"/>
    <p:sldId id="310" r:id="rId30"/>
    <p:sldId id="341" r:id="rId31"/>
    <p:sldId id="323" r:id="rId32"/>
    <p:sldId id="340" r:id="rId33"/>
    <p:sldId id="311" r:id="rId34"/>
    <p:sldId id="312" r:id="rId35"/>
    <p:sldId id="334" r:id="rId36"/>
    <p:sldId id="335" r:id="rId37"/>
    <p:sldId id="303" r:id="rId38"/>
    <p:sldId id="304" r:id="rId39"/>
    <p:sldId id="306" r:id="rId40"/>
    <p:sldId id="326" r:id="rId41"/>
    <p:sldId id="329" r:id="rId42"/>
    <p:sldId id="327" r:id="rId43"/>
    <p:sldId id="328" r:id="rId44"/>
    <p:sldId id="330" r:id="rId45"/>
    <p:sldId id="331" r:id="rId46"/>
    <p:sldId id="332" r:id="rId47"/>
    <p:sldId id="297" r:id="rId4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2F3"/>
    <a:srgbClr val="494A4D"/>
    <a:srgbClr val="FFFFFF"/>
    <a:srgbClr val="2349E3"/>
    <a:srgbClr val="1938FF"/>
    <a:srgbClr val="090095"/>
    <a:srgbClr val="1938B3"/>
    <a:srgbClr val="0A0096"/>
    <a:srgbClr val="0A3396"/>
    <a:srgbClr val="23388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57" autoAdjust="0"/>
    <p:restoredTop sz="96005" autoAdjust="0"/>
  </p:normalViewPr>
  <p:slideViewPr>
    <p:cSldViewPr snapToGrid="0">
      <p:cViewPr>
        <p:scale>
          <a:sx n="100" d="100"/>
          <a:sy n="100" d="100"/>
        </p:scale>
        <p:origin x="1308" y="31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theme" Target="theme/theme1.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26/11/2024</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26/11/2024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v1.3.0.0 – 01/12/2024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V1.3.0.0 – 01/12/2024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a:p>
            <a:pPr marL="101598" indent="0">
              <a:buNone/>
            </a:pPr>
            <a:r>
              <a:rPr lang="fr-FR" sz="16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 (option par défaut pour le site France Judo).</a:t>
            </a:r>
          </a:p>
          <a:p>
            <a:endParaRPr lang="fr-FR" sz="1800" dirty="0"/>
          </a:p>
          <a:p>
            <a:pPr marL="101598" indent="0">
              <a:buNone/>
            </a:pPr>
            <a:r>
              <a:rPr lang="fr-FR" sz="1800" b="1" i="1" dirty="0"/>
              <a:t>Note</a:t>
            </a:r>
            <a:r>
              <a:rPr lang="fr-FR" sz="1800" i="1" dirty="0"/>
              <a:t>: En cas de publication distante, l’accès des utilisateurs se fait via l’adresse distante de l’hébergeur ou du site France Judo.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529D4A42-A763-8E01-6F35-9129B14D9A91}"/>
              </a:ext>
            </a:extLst>
          </p:cNvPr>
          <p:cNvPicPr>
            <a:picLocks noChangeAspect="1"/>
          </p:cNvPicPr>
          <p:nvPr/>
        </p:nvPicPr>
        <p:blipFill>
          <a:blip r:embed="rId2"/>
          <a:stretch>
            <a:fillRect/>
          </a:stretch>
        </p:blipFill>
        <p:spPr>
          <a:xfrm>
            <a:off x="3680351" y="1766928"/>
            <a:ext cx="7917398" cy="446957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10767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691991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B1EC0E86-1DEA-4AD3-5C96-BEF25C2A6662}"/>
              </a:ext>
            </a:extLst>
          </p:cNvPr>
          <p:cNvPicPr>
            <a:picLocks noChangeAspect="1"/>
          </p:cNvPicPr>
          <p:nvPr/>
        </p:nvPicPr>
        <p:blipFill>
          <a:blip r:embed="rId2"/>
          <a:stretch>
            <a:fillRect/>
          </a:stretch>
        </p:blipFill>
        <p:spPr>
          <a:xfrm>
            <a:off x="706029" y="3229494"/>
            <a:ext cx="10792982" cy="132617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flipH="1">
            <a:off x="5915604" y="2025256"/>
            <a:ext cx="2573977"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11" name="Rectangle 10">
            <a:extLst>
              <a:ext uri="{FF2B5EF4-FFF2-40B4-BE49-F238E27FC236}">
                <a16:creationId xmlns:a16="http://schemas.microsoft.com/office/drawing/2014/main" id="{EB46C865-4478-1651-685C-687B0E5F8826}"/>
              </a:ext>
            </a:extLst>
          </p:cNvPr>
          <p:cNvSpPr/>
          <p:nvPr/>
        </p:nvSpPr>
        <p:spPr>
          <a:xfrm>
            <a:off x="10715836"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27739"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9052078" y="2391386"/>
            <a:ext cx="1431772" cy="528400"/>
          </a:xfrm>
          <a:prstGeom prst="accentBorderCallout1">
            <a:avLst>
              <a:gd name="adj1" fmla="val 18750"/>
              <a:gd name="adj2" fmla="val -8333"/>
              <a:gd name="adj3" fmla="val 169844"/>
              <a:gd name="adj4" fmla="val -283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052078" y="1761369"/>
            <a:ext cx="1626897" cy="294277"/>
          </a:xfrm>
          <a:prstGeom prst="accentBorderCallout1">
            <a:avLst>
              <a:gd name="adj1" fmla="val 73127"/>
              <a:gd name="adj2" fmla="val -5135"/>
              <a:gd name="adj3" fmla="val 497356"/>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765" t="24306" r="50118" b="2133"/>
          <a:stretch/>
        </p:blipFill>
        <p:spPr>
          <a:xfrm>
            <a:off x="4236719" y="2014758"/>
            <a:ext cx="3949065" cy="3507105"/>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581032" y="5223107"/>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333507" y="5225489"/>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0" y="2776023"/>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2076450" y="5936580"/>
            <a:ext cx="2981324" cy="436361"/>
          </a:xfrm>
          <a:prstGeom prst="accentBorderCallout1">
            <a:avLst>
              <a:gd name="adj1" fmla="val 18750"/>
              <a:gd name="adj2" fmla="val -8333"/>
              <a:gd name="adj3" fmla="val -108235"/>
              <a:gd name="adj4" fmla="val -3355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549502" y="5936579"/>
            <a:ext cx="3093099" cy="436362"/>
          </a:xfrm>
          <a:prstGeom prst="accentBorderCallout1">
            <a:avLst>
              <a:gd name="adj1" fmla="val 18750"/>
              <a:gd name="adj2" fmla="val -8333"/>
              <a:gd name="adj3" fmla="val -102559"/>
              <a:gd name="adj4" fmla="val -346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543784"/>
            <a:ext cx="2042286" cy="528400"/>
          </a:xfrm>
          <a:prstGeom prst="accentBorderCallout1">
            <a:avLst>
              <a:gd name="adj1" fmla="val 18750"/>
              <a:gd name="adj2" fmla="val -8333"/>
              <a:gd name="adj3" fmla="val 66748"/>
              <a:gd name="adj4" fmla="val -2072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546F8956-578C-AC80-2634-1CC846CB9833}"/>
              </a:ext>
            </a:extLst>
          </p:cNvPr>
          <p:cNvPicPr>
            <a:picLocks noChangeAspect="1"/>
          </p:cNvPicPr>
          <p:nvPr/>
        </p:nvPicPr>
        <p:blipFill>
          <a:blip r:embed="rId2"/>
          <a:stretch>
            <a:fillRect/>
          </a:stretch>
        </p:blipFill>
        <p:spPr>
          <a:xfrm>
            <a:off x="3971554" y="2081433"/>
            <a:ext cx="3757661" cy="2804148"/>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311273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602386" y="5140611"/>
            <a:ext cx="2890838" cy="436361"/>
          </a:xfrm>
          <a:prstGeom prst="accentBorderCallout1">
            <a:avLst>
              <a:gd name="adj1" fmla="val 18750"/>
              <a:gd name="adj2" fmla="val -8333"/>
              <a:gd name="adj3" fmla="val -65452"/>
              <a:gd name="adj4" fmla="val -2772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57594" y="3107796"/>
            <a:ext cx="3553585" cy="318133"/>
          </a:xfrm>
          <a:prstGeom prst="accentBorderCallout1">
            <a:avLst>
              <a:gd name="adj1" fmla="val 18750"/>
              <a:gd name="adj2" fmla="val -8333"/>
              <a:gd name="adj3" fmla="val 120749"/>
              <a:gd name="adj4" fmla="val -2565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86979" y="3412584"/>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881772" y="4008237"/>
            <a:ext cx="64272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699933" y="3414972"/>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157285" y="3412584"/>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65632" y="2575786"/>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2031015"/>
            <a:ext cx="3093177" cy="283867"/>
          </a:xfrm>
          <a:prstGeom prst="accentBorderCallout1">
            <a:avLst>
              <a:gd name="adj1" fmla="val 18750"/>
              <a:gd name="adj2" fmla="val -8333"/>
              <a:gd name="adj3" fmla="val 223337"/>
              <a:gd name="adj4" fmla="val -10036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61348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084689" y="2818558"/>
            <a:ext cx="2551027"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42157" y="2663312"/>
            <a:ext cx="2667954" cy="310492"/>
          </a:xfrm>
          <a:prstGeom prst="accentBorderCallout1">
            <a:avLst>
              <a:gd name="adj1" fmla="val 18750"/>
              <a:gd name="adj2" fmla="val -8333"/>
              <a:gd name="adj3" fmla="val 78705"/>
              <a:gd name="adj4" fmla="val -286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64400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73605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58858" y="4613512"/>
            <a:ext cx="494367"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1885" y="4610113"/>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56410" y="461602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8591" y="5717060"/>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7" y="5717060"/>
            <a:ext cx="3816602" cy="436362"/>
          </a:xfrm>
          <a:prstGeom prst="accentBorderCallout1">
            <a:avLst>
              <a:gd name="adj1" fmla="val 18750"/>
              <a:gd name="adj2" fmla="val -8333"/>
              <a:gd name="adj3" fmla="val -200265"/>
              <a:gd name="adj4" fmla="val -2330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881772" y="4220407"/>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881772" y="4438414"/>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71553" y="3886410"/>
            <a:ext cx="991489" cy="13013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4226719"/>
            <a:ext cx="3141429" cy="294010"/>
          </a:xfrm>
          <a:prstGeom prst="accentBorderCallout1">
            <a:avLst>
              <a:gd name="adj1" fmla="val 18750"/>
              <a:gd name="adj2" fmla="val -8333"/>
              <a:gd name="adj3" fmla="val -78504"/>
              <a:gd name="adj4" fmla="val -214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1102" y="4084805"/>
            <a:ext cx="3550562" cy="436361"/>
          </a:xfrm>
          <a:prstGeom prst="accentBorderCallout1">
            <a:avLst>
              <a:gd name="adj1" fmla="val 18750"/>
              <a:gd name="adj2" fmla="val -8333"/>
              <a:gd name="adj3" fmla="val -14010"/>
              <a:gd name="adj4" fmla="val -81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69" y="4714052"/>
            <a:ext cx="3141431" cy="286471"/>
          </a:xfrm>
          <a:prstGeom prst="accentBorderCallout1">
            <a:avLst>
              <a:gd name="adj1" fmla="val 18750"/>
              <a:gd name="adj2" fmla="val -8333"/>
              <a:gd name="adj3" fmla="val -51417"/>
              <a:gd name="adj4" fmla="val -4925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671460"/>
            <a:ext cx="3550562" cy="228497"/>
          </a:xfrm>
          <a:prstGeom prst="accentBorderCallout1">
            <a:avLst>
              <a:gd name="adj1" fmla="val 18750"/>
              <a:gd name="adj2" fmla="val -8333"/>
              <a:gd name="adj3" fmla="val 55198"/>
              <a:gd name="adj4" fmla="val -7840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4599415" y="371174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a:off x="8411102" y="4704250"/>
            <a:ext cx="3550562" cy="436361"/>
          </a:xfrm>
          <a:prstGeom prst="accentBorderCallout1">
            <a:avLst>
              <a:gd name="adj1" fmla="val 18750"/>
              <a:gd name="adj2" fmla="val -8333"/>
              <a:gd name="adj3" fmla="val -103507"/>
              <a:gd name="adj4" fmla="val -707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Tree>
    <p:extLst>
      <p:ext uri="{BB962C8B-B14F-4D97-AF65-F5344CB8AC3E}">
        <p14:creationId xmlns:p14="http://schemas.microsoft.com/office/powerpoint/2010/main" val="652388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C61C8023-99D1-2101-F255-77237306A496}"/>
              </a:ext>
            </a:extLst>
          </p:cNvPr>
          <p:cNvPicPr>
            <a:picLocks noChangeAspect="1"/>
          </p:cNvPicPr>
          <p:nvPr/>
        </p:nvPicPr>
        <p:blipFill>
          <a:blip r:embed="rId2"/>
          <a:stretch>
            <a:fillRect/>
          </a:stretch>
        </p:blipFill>
        <p:spPr>
          <a:xfrm>
            <a:off x="3932898" y="1710744"/>
            <a:ext cx="4070065" cy="349627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42157" y="2741552"/>
            <a:ext cx="3553585" cy="318133"/>
          </a:xfrm>
          <a:prstGeom prst="accentBorderCallout1">
            <a:avLst>
              <a:gd name="adj1" fmla="val 18750"/>
              <a:gd name="adj2" fmla="val -8333"/>
              <a:gd name="adj3" fmla="val 125240"/>
              <a:gd name="adj4" fmla="val -231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02325" y="3765315"/>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93670" y="221320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25153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14688" y="2476682"/>
            <a:ext cx="2800587"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42157" y="2301362"/>
            <a:ext cx="2667954" cy="310492"/>
          </a:xfrm>
          <a:prstGeom prst="accentBorderCallout1">
            <a:avLst>
              <a:gd name="adj1" fmla="val 18750"/>
              <a:gd name="adj2" fmla="val -8333"/>
              <a:gd name="adj3" fmla="val 81773"/>
              <a:gd name="adj4" fmla="val -1792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363633" y="4917168"/>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44640" y="4919681"/>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761185" y="4919681"/>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8" y="6012222"/>
            <a:ext cx="3816602"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02325" y="4034497"/>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7623" y="4251226"/>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30814" y="4722976"/>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23739" y="4474044"/>
            <a:ext cx="167553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53150" y="3586691"/>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933724" y="4474004"/>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933724" y="4706651"/>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414128" y="5441969"/>
            <a:ext cx="3550560"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84104"/>
              <a:gd name="adj4" fmla="val -5966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25057"/>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414126" y="4972190"/>
            <a:ext cx="3550561" cy="343173"/>
          </a:xfrm>
          <a:prstGeom prst="accentBorderCallout1">
            <a:avLst>
              <a:gd name="adj1" fmla="val 18750"/>
              <a:gd name="adj2" fmla="val -8333"/>
              <a:gd name="adj3" fmla="val -12737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4125" y="3722711"/>
            <a:ext cx="3550562"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414125" y="4326745"/>
            <a:ext cx="3550562" cy="436361"/>
          </a:xfrm>
          <a:prstGeom prst="accentBorderCallout1">
            <a:avLst>
              <a:gd name="adj1" fmla="val 18750"/>
              <a:gd name="adj2" fmla="val -8333"/>
              <a:gd name="adj3" fmla="val -49736"/>
              <a:gd name="adj4" fmla="val -180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41442"/>
              <a:gd name="adj4" fmla="val -592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309510"/>
            <a:ext cx="3550562" cy="228497"/>
          </a:xfrm>
          <a:prstGeom prst="accentBorderCallout1">
            <a:avLst>
              <a:gd name="adj1" fmla="val 18750"/>
              <a:gd name="adj2" fmla="val -8333"/>
              <a:gd name="adj3" fmla="val 84378"/>
              <a:gd name="adj4" fmla="val -770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618943" y="3423759"/>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2524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0"/>
            <a:ext cx="12011779"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a:blip r:embed="rId2"/>
          <a:stretch>
            <a:fillRect/>
          </a:stretch>
        </p:blipFill>
        <p:spPr>
          <a:xfrm>
            <a:off x="3574496" y="1982866"/>
            <a:ext cx="7772400" cy="3743325"/>
          </a:xfrm>
          <a:prstGeom prst="rect">
            <a:avLst/>
          </a:prstGeom>
        </p:spPr>
      </p:pic>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4"/>
            <a:ext cx="3470491"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Tree>
    <p:extLst>
      <p:ext uri="{BB962C8B-B14F-4D97-AF65-F5344CB8AC3E}">
        <p14:creationId xmlns:p14="http://schemas.microsoft.com/office/powerpoint/2010/main" val="15334817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53520" t="8353" r="1749" b="13785"/>
          <a:stretch/>
        </p:blipFill>
        <p:spPr>
          <a:xfrm>
            <a:off x="4086224" y="2328593"/>
            <a:ext cx="3476625" cy="2914650"/>
          </a:xfrm>
          <a:prstGeom prst="rect">
            <a:avLst/>
          </a:prstGeom>
        </p:spPr>
      </p:pic>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23702" y="3249449"/>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241501" y="4036471"/>
            <a:ext cx="1592082"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096000" y="3621926"/>
            <a:ext cx="1132936" cy="6495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03879" y="4668990"/>
            <a:ext cx="3257372"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243268"/>
              <a:gd name="adj4" fmla="val -4165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5911236" y="2950547"/>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66934"/>
              <a:gd name="adj4" fmla="val -419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5911236" y="3311479"/>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657093"/>
            <a:ext cx="2974144" cy="483119"/>
          </a:xfrm>
          <a:prstGeom prst="accentBorderCallout1">
            <a:avLst>
              <a:gd name="adj1" fmla="val 18750"/>
              <a:gd name="adj2" fmla="val -8333"/>
              <a:gd name="adj3" fmla="val -48523"/>
              <a:gd name="adj4" fmla="val -3493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206511" y="4322312"/>
            <a:ext cx="899139" cy="28302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467429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8" name="Image 7">
            <a:extLst>
              <a:ext uri="{FF2B5EF4-FFF2-40B4-BE49-F238E27FC236}">
                <a16:creationId xmlns:a16="http://schemas.microsoft.com/office/drawing/2014/main" id="{E3FC3E6C-3878-EE79-50A9-315B90138293}"/>
              </a:ext>
            </a:extLst>
          </p:cNvPr>
          <p:cNvPicPr>
            <a:picLocks noChangeAspect="1"/>
          </p:cNvPicPr>
          <p:nvPr/>
        </p:nvPicPr>
        <p:blipFill>
          <a:blip r:embed="rId2"/>
          <a:stretch>
            <a:fillRect/>
          </a:stretch>
        </p:blipFill>
        <p:spPr>
          <a:xfrm>
            <a:off x="3985193" y="1913235"/>
            <a:ext cx="6591962" cy="396444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45917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59839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
        <p:nvSpPr>
          <p:cNvPr id="14" name="Rectangle 13">
            <a:extLst>
              <a:ext uri="{FF2B5EF4-FFF2-40B4-BE49-F238E27FC236}">
                <a16:creationId xmlns:a16="http://schemas.microsoft.com/office/drawing/2014/main" id="{82BB2F06-B806-94DE-0650-E503AA275CE2}"/>
              </a:ext>
            </a:extLst>
          </p:cNvPr>
          <p:cNvSpPr/>
          <p:nvPr/>
        </p:nvSpPr>
        <p:spPr>
          <a:xfrm>
            <a:off x="5451475" y="2140944"/>
            <a:ext cx="418382"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45534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6" name="Rectangle 15">
            <a:extLst>
              <a:ext uri="{FF2B5EF4-FFF2-40B4-BE49-F238E27FC236}">
                <a16:creationId xmlns:a16="http://schemas.microsoft.com/office/drawing/2014/main" id="{53A72B99-EC85-427C-2E6A-F5D19EED64EB}"/>
              </a:ext>
            </a:extLst>
          </p:cNvPr>
          <p:cNvSpPr/>
          <p:nvPr/>
        </p:nvSpPr>
        <p:spPr>
          <a:xfrm>
            <a:off x="6384925" y="1939629"/>
            <a:ext cx="1793875" cy="201315"/>
          </a:xfrm>
          <a:prstGeom prst="rect">
            <a:avLst/>
          </a:prstGeom>
          <a:solidFill>
            <a:srgbClr val="494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D43A3E9D-E9D8-AD3A-C699-30F633EE9284}"/>
              </a:ext>
            </a:extLst>
          </p:cNvPr>
          <p:cNvSpPr/>
          <p:nvPr/>
        </p:nvSpPr>
        <p:spPr>
          <a:xfrm>
            <a:off x="4330700"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33203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308026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53847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213636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FFBE9FB1-84B2-1E3A-E71F-668D1427F18F}"/>
              </a:ext>
            </a:extLst>
          </p:cNvPr>
          <p:cNvPicPr>
            <a:picLocks noChangeAspect="1"/>
          </p:cNvPicPr>
          <p:nvPr/>
        </p:nvPicPr>
        <p:blipFill>
          <a:blip r:embed="rId2"/>
          <a:stretch>
            <a:fillRect/>
          </a:stretch>
        </p:blipFill>
        <p:spPr>
          <a:xfrm>
            <a:off x="5325095" y="1361305"/>
            <a:ext cx="5944430" cy="3667637"/>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5721546"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486650" y="4294147"/>
            <a:ext cx="1295400" cy="45500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879284" y="4430572"/>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19864"/>
              <a:gd name="adj4" fmla="val -1191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5443320" y="5228534"/>
            <a:ext cx="4086659" cy="399263"/>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77817" y="5627797"/>
            <a:ext cx="11369615" cy="1019303"/>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Cet écran peut rester ouvert en même temps que l’écran principal sans gêner le fonctionnement mais il reste au 1</a:t>
            </a:r>
            <a:r>
              <a:rPr lang="fr-FR" sz="1800" i="1" baseline="30000" dirty="0"/>
              <a:t>er</a:t>
            </a:r>
            <a:r>
              <a:rPr lang="fr-FR" sz="1800" i="1" dirty="0"/>
              <a:t> plan. Attention, l’activation des traces détaillées peut générer des fichiers de taille importante et engendrer un permet de performance.</a:t>
            </a:r>
          </a:p>
        </p:txBody>
      </p:sp>
    </p:spTree>
    <p:extLst>
      <p:ext uri="{BB962C8B-B14F-4D97-AF65-F5344CB8AC3E}">
        <p14:creationId xmlns:p14="http://schemas.microsoft.com/office/powerpoint/2010/main" val="237722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33791D6D-937F-4C47-46B5-3B3BF011EF26}"/>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52D40EB3-DA06-B6F5-54EC-C14D03F5CAC1}"/>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84895146-2DDE-BBA5-EB83-ABD9BAAC1009}"/>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EDC9AC2D-CC81-2320-6516-F37595D9B3DB}"/>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34B86F24-099F-E781-45C5-7F7E55C9FA56}"/>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FD93FD8A-B4B4-CBE6-FC1A-CB14CD5E5722}"/>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F53FBF2-55AF-9887-5D45-A6E1080E48B4}"/>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FFF4F037-FDA7-1273-2E23-63D3C5E1263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F3D3660D-B9AF-5EFF-1E77-AA35B4D70476}"/>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A5A9E80C-A9D6-833E-3AE1-D7B967E81576}"/>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484F2DAA-B641-16C3-D097-319A864BEF2A}"/>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B399E4B5-EEBA-5E7E-9706-A4A3014A867F}"/>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200DFA5D-AB23-891D-C819-D3D8848BEC11}"/>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A3905DB8-B84D-6D61-89D6-3F74816CBC7F}"/>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0276365E-197C-04F1-40F9-589942247FAC}"/>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5"/>
          <a:stretch>
            <a:fillRect/>
          </a:stretch>
        </p:blipFill>
        <p:spPr>
          <a:xfrm>
            <a:off x="9480669" y="4898262"/>
            <a:ext cx="2519714" cy="885949"/>
          </a:xfrm>
          <a:prstGeom prst="rect">
            <a:avLst/>
          </a:prstGeom>
        </p:spPr>
      </p:pic>
    </p:spTree>
    <p:extLst>
      <p:ext uri="{BB962C8B-B14F-4D97-AF65-F5344CB8AC3E}">
        <p14:creationId xmlns:p14="http://schemas.microsoft.com/office/powerpoint/2010/main" val="1339627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22DC4149-B2D2-C3FB-69C9-C317DF95B31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C95A5200-4AF4-6353-C8E8-3B2A6EC72D02}"/>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9D0D8FA0-5834-70A4-5757-DDACE223BA2D}"/>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C1754EE9-40BC-2FB0-BB97-7081D7F7974C}"/>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E597DCAA-F198-42F9-BA2B-F0426402561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CCBE9E11-EB7C-FC7D-8E8F-B3A20E3E7775}"/>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012340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698129580"/>
              </p:ext>
            </p:extLst>
          </p:nvPr>
        </p:nvGraphicFramePr>
        <p:xfrm>
          <a:off x="1282097" y="1914605"/>
          <a:ext cx="9140816" cy="3309637"/>
        </p:xfrm>
        <a:graphic>
          <a:graphicData uri="http://schemas.openxmlformats.org/drawingml/2006/table">
            <a:tbl>
              <a:tblPr>
                <a:tableStyleId>{7DF18680-E054-41AD-8BC1-D1AEF772440D}</a:tableStyleId>
              </a:tblPr>
              <a:tblGrid>
                <a:gridCol w="515345">
                  <a:extLst>
                    <a:ext uri="{9D8B030D-6E8A-4147-A177-3AD203B41FA5}">
                      <a16:colId xmlns:a16="http://schemas.microsoft.com/office/drawing/2014/main" val="3736857135"/>
                    </a:ext>
                  </a:extLst>
                </a:gridCol>
                <a:gridCol w="849471">
                  <a:extLst>
                    <a:ext uri="{9D8B030D-6E8A-4147-A177-3AD203B41FA5}">
                      <a16:colId xmlns:a16="http://schemas.microsoft.com/office/drawing/2014/main" val="3696878891"/>
                    </a:ext>
                  </a:extLst>
                </a:gridCol>
                <a:gridCol w="864000">
                  <a:extLst>
                    <a:ext uri="{9D8B030D-6E8A-4147-A177-3AD203B41FA5}">
                      <a16:colId xmlns:a16="http://schemas.microsoft.com/office/drawing/2014/main" val="2257898591"/>
                    </a:ext>
                  </a:extLst>
                </a:gridCol>
                <a:gridCol w="864000">
                  <a:extLst>
                    <a:ext uri="{9D8B030D-6E8A-4147-A177-3AD203B41FA5}">
                      <a16:colId xmlns:a16="http://schemas.microsoft.com/office/drawing/2014/main" val="2384296798"/>
                    </a:ext>
                  </a:extLst>
                </a:gridCol>
                <a:gridCol w="864000">
                  <a:extLst>
                    <a:ext uri="{9D8B030D-6E8A-4147-A177-3AD203B41FA5}">
                      <a16:colId xmlns:a16="http://schemas.microsoft.com/office/drawing/2014/main" val="618733032"/>
                    </a:ext>
                  </a:extLst>
                </a:gridCol>
                <a:gridCol w="864000">
                  <a:extLst>
                    <a:ext uri="{9D8B030D-6E8A-4147-A177-3AD203B41FA5}">
                      <a16:colId xmlns:a16="http://schemas.microsoft.com/office/drawing/2014/main" val="3964921429"/>
                    </a:ext>
                  </a:extLst>
                </a:gridCol>
                <a:gridCol w="864000">
                  <a:extLst>
                    <a:ext uri="{9D8B030D-6E8A-4147-A177-3AD203B41FA5}">
                      <a16:colId xmlns:a16="http://schemas.microsoft.com/office/drawing/2014/main" val="2528599786"/>
                    </a:ext>
                  </a:extLst>
                </a:gridCol>
                <a:gridCol w="864000">
                  <a:extLst>
                    <a:ext uri="{9D8B030D-6E8A-4147-A177-3AD203B41FA5}">
                      <a16:colId xmlns:a16="http://schemas.microsoft.com/office/drawing/2014/main" val="2631112101"/>
                    </a:ext>
                  </a:extLst>
                </a:gridCol>
                <a:gridCol w="864000">
                  <a:extLst>
                    <a:ext uri="{9D8B030D-6E8A-4147-A177-3AD203B41FA5}">
                      <a16:colId xmlns:a16="http://schemas.microsoft.com/office/drawing/2014/main" val="1640724778"/>
                    </a:ext>
                  </a:extLst>
                </a:gridCol>
                <a:gridCol w="864000">
                  <a:extLst>
                    <a:ext uri="{9D8B030D-6E8A-4147-A177-3AD203B41FA5}">
                      <a16:colId xmlns:a16="http://schemas.microsoft.com/office/drawing/2014/main" val="2824390373"/>
                    </a:ext>
                  </a:extLst>
                </a:gridCol>
                <a:gridCol w="864000">
                  <a:extLst>
                    <a:ext uri="{9D8B030D-6E8A-4147-A177-3AD203B41FA5}">
                      <a16:colId xmlns:a16="http://schemas.microsoft.com/office/drawing/2014/main" val="3229000006"/>
                    </a:ext>
                  </a:extLst>
                </a:gridCol>
              </a:tblGrid>
              <a:tr h="727366">
                <a:tc>
                  <a:txBody>
                    <a:bodyPr/>
                    <a:lstStyle/>
                    <a:p>
                      <a:endParaRPr lang="fr-FR" dirty="0"/>
                    </a:p>
                  </a:txBody>
                  <a:tcPr anchor="ctr"/>
                </a:tc>
                <a:tc>
                  <a:txBody>
                    <a:bodyPr/>
                    <a:lstStyle/>
                    <a:p>
                      <a:endParaRPr lang="fr-FR" dirty="0"/>
                    </a:p>
                  </a:txBody>
                  <a:tcPr anchor="ctr"/>
                </a:tc>
                <a:tc gridSpan="9">
                  <a:txBody>
                    <a:bodyPr/>
                    <a:lstStyle/>
                    <a:p>
                      <a:pPr algn="ctr"/>
                      <a:r>
                        <a:rPr lang="fr-FR" sz="1800" dirty="0" err="1">
                          <a:solidFill>
                            <a:schemeClr val="bg1"/>
                          </a:solidFill>
                        </a:rPr>
                        <a:t>PublicationSuiviCompetition</a:t>
                      </a:r>
                      <a:endParaRPr lang="fr-FR"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475221">
                <a:tc>
                  <a:txBody>
                    <a:bodyPr/>
                    <a:lstStyle/>
                    <a:p>
                      <a:endParaRPr lang="fr-FR" dirty="0"/>
                    </a:p>
                  </a:txBody>
                  <a:tcPr anchor="ctr"/>
                </a:tc>
                <a:tc>
                  <a:txBody>
                    <a:bodyPr/>
                    <a:lstStyle/>
                    <a:p>
                      <a:endParaRPr lang="fr-FR" dirty="0"/>
                    </a:p>
                  </a:txBody>
                  <a:tcPr anchor="ctr"/>
                </a:tc>
                <a:tc>
                  <a:txBody>
                    <a:bodyPr/>
                    <a:lstStyle/>
                    <a:p>
                      <a:r>
                        <a:rPr lang="fr-FR" dirty="0">
                          <a:solidFill>
                            <a:schemeClr val="bg1"/>
                          </a:solidFill>
                        </a:rPr>
                        <a:t>1.0.0.0</a:t>
                      </a:r>
                    </a:p>
                  </a:txBody>
                  <a:tcPr anchor="ctr">
                    <a:solidFill>
                      <a:schemeClr val="accent1"/>
                    </a:solidFill>
                  </a:tcPr>
                </a:tc>
                <a:tc>
                  <a:txBody>
                    <a:bodyPr/>
                    <a:lstStyle/>
                    <a:p>
                      <a:r>
                        <a:rPr lang="fr-FR" dirty="0">
                          <a:solidFill>
                            <a:schemeClr val="bg1"/>
                          </a:solidFill>
                        </a:rPr>
                        <a:t>1.1.0.0</a:t>
                      </a:r>
                    </a:p>
                  </a:txBody>
                  <a:tcPr anchor="ctr">
                    <a:solidFill>
                      <a:schemeClr val="accent1"/>
                    </a:solidFill>
                  </a:tcPr>
                </a:tc>
                <a:tc>
                  <a:txBody>
                    <a:bodyPr/>
                    <a:lstStyle/>
                    <a:p>
                      <a:r>
                        <a:rPr lang="fr-FR" dirty="0">
                          <a:solidFill>
                            <a:schemeClr val="bg1"/>
                          </a:solidFill>
                        </a:rPr>
                        <a:t>1.1.1.0</a:t>
                      </a:r>
                    </a:p>
                  </a:txBody>
                  <a:tcPr anchor="ctr">
                    <a:solidFill>
                      <a:schemeClr val="accent1"/>
                    </a:solidFill>
                  </a:tcPr>
                </a:tc>
                <a:tc>
                  <a:txBody>
                    <a:bodyPr/>
                    <a:lstStyle/>
                    <a:p>
                      <a:r>
                        <a:rPr lang="fr-FR" dirty="0">
                          <a:solidFill>
                            <a:schemeClr val="bg1"/>
                          </a:solidFill>
                        </a:rPr>
                        <a:t>1.1.1.1</a:t>
                      </a:r>
                    </a:p>
                  </a:txBody>
                  <a:tcPr anchor="ctr">
                    <a:solidFill>
                      <a:schemeClr val="accent1"/>
                    </a:solidFill>
                  </a:tcPr>
                </a:tc>
                <a:tc>
                  <a:txBody>
                    <a:bodyPr/>
                    <a:lstStyle/>
                    <a:p>
                      <a:r>
                        <a:rPr lang="fr-FR" dirty="0">
                          <a:solidFill>
                            <a:schemeClr val="bg1"/>
                          </a:solidFill>
                        </a:rPr>
                        <a:t>1.1.1.2</a:t>
                      </a:r>
                    </a:p>
                  </a:txBody>
                  <a:tcPr anchor="ctr">
                    <a:solidFill>
                      <a:schemeClr val="accent1"/>
                    </a:solidFill>
                  </a:tcPr>
                </a:tc>
                <a:tc>
                  <a:txBody>
                    <a:bodyPr/>
                    <a:lstStyle/>
                    <a:p>
                      <a:r>
                        <a:rPr lang="fr-FR" dirty="0">
                          <a:solidFill>
                            <a:schemeClr val="bg1"/>
                          </a:solidFill>
                        </a:rPr>
                        <a:t>1.1.1.3</a:t>
                      </a:r>
                    </a:p>
                  </a:txBody>
                  <a:tcPr anchor="ctr">
                    <a:solidFill>
                      <a:schemeClr val="accent1"/>
                    </a:solidFill>
                  </a:tcPr>
                </a:tc>
                <a:tc>
                  <a:txBody>
                    <a:bodyPr/>
                    <a:lstStyle/>
                    <a:p>
                      <a:r>
                        <a:rPr lang="fr-FR" dirty="0">
                          <a:solidFill>
                            <a:schemeClr val="bg1"/>
                          </a:solidFill>
                        </a:rPr>
                        <a:t>1.2.0.0</a:t>
                      </a:r>
                    </a:p>
                  </a:txBody>
                  <a:tcPr anchor="ctr">
                    <a:solidFill>
                      <a:schemeClr val="accent1"/>
                    </a:solidFill>
                  </a:tcPr>
                </a:tc>
                <a:tc>
                  <a:txBody>
                    <a:bodyPr/>
                    <a:lstStyle/>
                    <a:p>
                      <a:r>
                        <a:rPr lang="fr-FR" dirty="0">
                          <a:solidFill>
                            <a:schemeClr val="bg1"/>
                          </a:solidFill>
                        </a:rPr>
                        <a:t>1.2.1.0</a:t>
                      </a:r>
                    </a:p>
                  </a:txBody>
                  <a:tcPr anchor="ctr">
                    <a:solidFill>
                      <a:schemeClr val="accent1"/>
                    </a:solidFill>
                  </a:tcPr>
                </a:tc>
                <a:tc>
                  <a:txBody>
                    <a:bodyPr/>
                    <a:lstStyle/>
                    <a:p>
                      <a:r>
                        <a:rPr lang="fr-FR" dirty="0">
                          <a:solidFill>
                            <a:schemeClr val="bg1"/>
                          </a:solidFill>
                        </a:rPr>
                        <a:t>1.3.0.0</a:t>
                      </a:r>
                    </a:p>
                  </a:txBody>
                  <a:tcPr anchor="ctr">
                    <a:solidFill>
                      <a:schemeClr val="accent1"/>
                    </a:solidFill>
                  </a:tcPr>
                </a:tc>
                <a:extLst>
                  <a:ext uri="{0D108BD9-81ED-4DB2-BD59-A6C34878D82A}">
                    <a16:rowId xmlns:a16="http://schemas.microsoft.com/office/drawing/2014/main" val="407517425"/>
                  </a:ext>
                </a:extLst>
              </a:tr>
              <a:tr h="421410">
                <a:tc row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Gestion de compétition 2.0</a:t>
                      </a:r>
                    </a:p>
                  </a:txBody>
                  <a:tcPr vert="vert270" anchor="ctr">
                    <a:solidFill>
                      <a:schemeClr val="accent1"/>
                    </a:solidFill>
                  </a:tcPr>
                </a:tc>
                <a:tc>
                  <a:txBody>
                    <a:bodyPr/>
                    <a:lstStyle/>
                    <a:p>
                      <a:r>
                        <a:rPr lang="fr-FR" dirty="0">
                          <a:solidFill>
                            <a:schemeClr val="bg1"/>
                          </a:solidFill>
                        </a:rPr>
                        <a:t>1.2.5.1</a:t>
                      </a:r>
                    </a:p>
                  </a:txBody>
                  <a:tcPr anchor="ctr">
                    <a:solidFill>
                      <a:schemeClr val="accent1"/>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dirty="0">
                          <a:solidFill>
                            <a:schemeClr val="bg1"/>
                          </a:solidFill>
                        </a:rPr>
                        <a:t>1.2.6.0</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1.2.6.1</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1.2.6.3</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1.2.6.5</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1191909874"/>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205101607"/>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400" i="1" dirty="0"/>
                        <a:t>Compatible</a:t>
                      </a:r>
                    </a:p>
                  </a:txBody>
                  <a:tcPr anchor="ctr">
                    <a:solidFill>
                      <a:schemeClr val="accent6"/>
                    </a:solidFill>
                  </a:tcPr>
                </a:tc>
                <a:tc>
                  <a:txBody>
                    <a:bodyPr/>
                    <a:lstStyle/>
                    <a:p>
                      <a:r>
                        <a:rPr lang="fr-FR" sz="1400" i="1" dirty="0"/>
                        <a:t>Utilisable mais certaines données peuvent ne pas s’afficher correctement</a:t>
                      </a:r>
                    </a:p>
                  </a:txBody>
                  <a:tcPr anchor="ctr">
                    <a:solidFill>
                      <a:schemeClr val="accent4"/>
                    </a:solidFill>
                  </a:tcPr>
                </a:tc>
                <a:tc>
                  <a:txBody>
                    <a:bodyPr/>
                    <a:lstStyle/>
                    <a:p>
                      <a:r>
                        <a:rPr lang="fr-FR" sz="14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2090500"/>
            <a:ext cx="5153779" cy="1785717"/>
          </a:xfrm>
        </p:spPr>
        <p:txBody>
          <a:bodyPr/>
          <a:lstStyle/>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2090500"/>
            <a:ext cx="6277729" cy="3787178"/>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7032170" y="2188659"/>
            <a:ext cx="1806691"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a:t>
            </a:r>
          </a:p>
        </p:txBody>
      </p:sp>
    </p:spTree>
    <p:extLst>
      <p:ext uri="{BB962C8B-B14F-4D97-AF65-F5344CB8AC3E}">
        <p14:creationId xmlns:p14="http://schemas.microsoft.com/office/powerpoint/2010/main" val="1262413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customXml/itemProps3.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9899</TotalTime>
  <Words>2875</Words>
  <Application>Microsoft Office PowerPoint</Application>
  <PresentationFormat>Grand écran</PresentationFormat>
  <Paragraphs>402</Paragraphs>
  <Slides>41</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41</vt:i4>
      </vt:variant>
    </vt:vector>
  </HeadingPairs>
  <TitlesOfParts>
    <vt:vector size="53"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 (config. FFJudo)</vt:lpstr>
      <vt:lpstr>Ecran Principal – Publication distante (config. avancée)</vt:lpstr>
      <vt:lpstr>Ecran Principal – Publication sur FFJudo</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Manuel</vt:lpstr>
      <vt:lpstr>Ecran d’information</vt:lpstr>
      <vt:lpstr>Mise en œuvre</vt:lpstr>
      <vt:lpstr>Installation</vt:lpstr>
      <vt:lpstr> Publier une compétition sur le site FFJudo</vt:lpstr>
      <vt:lpstr> Publier une compétition sur un site distant</vt:lpstr>
      <vt:lpstr> Publier une compétition sur le site local</vt:lpstr>
      <vt:lpstr>Dépannage</vt:lpstr>
      <vt:lpstr>Eléments à contrôler - Génération</vt:lpstr>
      <vt:lpstr>Eléments à contrôler – Publication locale</vt:lpstr>
      <vt:lpstr>Eléments à contrôler – Publication distante</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79</cp:revision>
  <dcterms:created xsi:type="dcterms:W3CDTF">2021-04-26T15:18:08Z</dcterms:created>
  <dcterms:modified xsi:type="dcterms:W3CDTF">2024-11-26T20:02:21Z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ies>
</file>